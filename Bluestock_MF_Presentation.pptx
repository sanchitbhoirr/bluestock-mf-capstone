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0" d="100"/>
          <a:sy n="130" d="100"/>
        </p:scale>
        <p:origin x="82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58800" y="1667002"/>
            <a:ext cx="3692525" cy="261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49E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0F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060" y="224535"/>
            <a:ext cx="454215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0040" y="1078991"/>
            <a:ext cx="4069079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952500"/>
              <a:ext cx="1523999" cy="152399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30625" y="816864"/>
            <a:ext cx="431228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Cambria"/>
                <a:cs typeface="Cambria"/>
              </a:rPr>
              <a:t>Bluestock</a:t>
            </a:r>
            <a:r>
              <a:rPr sz="3200" spc="-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FFFFFF"/>
                </a:solidFill>
                <a:latin typeface="Cambria"/>
                <a:cs typeface="Cambria"/>
              </a:rPr>
              <a:t>Mutual</a:t>
            </a:r>
            <a:r>
              <a:rPr sz="3200" spc="-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mbria"/>
                <a:cs typeface="Cambria"/>
              </a:rPr>
              <a:t>Fund Analytics</a:t>
            </a:r>
            <a:r>
              <a:rPr sz="3200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mbria"/>
                <a:cs typeface="Cambria"/>
              </a:rPr>
              <a:t>Platform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38562" y="1952625"/>
            <a:ext cx="1148080" cy="1862455"/>
            <a:chOff x="3738562" y="1952625"/>
            <a:chExt cx="1148080" cy="1862455"/>
          </a:xfrm>
        </p:grpSpPr>
        <p:sp>
          <p:nvSpPr>
            <p:cNvPr id="7" name="object 7"/>
            <p:cNvSpPr/>
            <p:nvPr/>
          </p:nvSpPr>
          <p:spPr>
            <a:xfrm>
              <a:off x="3743325" y="1952625"/>
              <a:ext cx="1143000" cy="38100"/>
            </a:xfrm>
            <a:custGeom>
              <a:avLst/>
              <a:gdLst/>
              <a:ahLst/>
              <a:cxnLst/>
              <a:rect l="l" t="t" r="r" b="b"/>
              <a:pathLst>
                <a:path w="1143000" h="38100">
                  <a:moveTo>
                    <a:pt x="1142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42999" y="0"/>
                  </a:lnTo>
                  <a:lnTo>
                    <a:pt x="11429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4332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1019094" y="857399"/>
                  </a:move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7" y="851411"/>
                  </a:lnTo>
                  <a:lnTo>
                    <a:pt x="1019094" y="8573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4332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0" y="76205"/>
                  </a:move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7" y="851411"/>
                  </a:lnTo>
                  <a:lnTo>
                    <a:pt x="1019094" y="857399"/>
                  </a:ln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30625" y="2075688"/>
            <a:ext cx="2499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BD4E1"/>
                </a:solidFill>
                <a:latin typeface="Calibri"/>
                <a:cs typeface="Calibri"/>
              </a:rPr>
              <a:t>An</a:t>
            </a:r>
            <a:r>
              <a:rPr sz="14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CBD4E1"/>
                </a:solidFill>
                <a:latin typeface="Calibri"/>
                <a:cs typeface="Calibri"/>
              </a:rPr>
              <a:t>End-to-</a:t>
            </a:r>
            <a:r>
              <a:rPr sz="1400" dirty="0">
                <a:solidFill>
                  <a:srgbClr val="CBD4E1"/>
                </a:solidFill>
                <a:latin typeface="Calibri"/>
                <a:cs typeface="Calibri"/>
              </a:rPr>
              <a:t>End</a:t>
            </a:r>
            <a:r>
              <a:rPr sz="14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BD4E1"/>
                </a:solidFill>
                <a:latin typeface="Calibri"/>
                <a:cs typeface="Calibri"/>
              </a:rPr>
              <a:t>Data</a:t>
            </a:r>
            <a:r>
              <a:rPr sz="14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BD4E1"/>
                </a:solidFill>
                <a:latin typeface="Calibri"/>
                <a:cs typeface="Calibri"/>
              </a:rPr>
              <a:t>Engineering</a:t>
            </a:r>
            <a:r>
              <a:rPr sz="14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CBD4E1"/>
                </a:solidFill>
                <a:latin typeface="Calibri"/>
                <a:cs typeface="Calibri"/>
              </a:rPr>
              <a:t>&amp; </a:t>
            </a:r>
            <a:r>
              <a:rPr sz="1400" spc="-10" dirty="0">
                <a:solidFill>
                  <a:srgbClr val="CBD4E1"/>
                </a:solidFill>
                <a:latin typeface="Calibri"/>
                <a:cs typeface="Calibri"/>
              </a:rPr>
              <a:t>Financial</a:t>
            </a:r>
            <a:r>
              <a:rPr sz="14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BD4E1"/>
                </a:solidFill>
                <a:latin typeface="Calibri"/>
                <a:cs typeface="Calibri"/>
              </a:rPr>
              <a:t>Intelligence</a:t>
            </a:r>
            <a:r>
              <a:rPr sz="14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BD4E1"/>
                </a:solidFill>
                <a:latin typeface="Calibri"/>
                <a:cs typeface="Calibri"/>
              </a:rPr>
              <a:t>Project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58955" y="3025659"/>
            <a:ext cx="663575" cy="59372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19"/>
              </a:spcBef>
            </a:pPr>
            <a:r>
              <a:rPr sz="1800" b="1" spc="-20" dirty="0">
                <a:solidFill>
                  <a:srgbClr val="00D4AA"/>
                </a:solidFill>
                <a:latin typeface="Calibri"/>
                <a:cs typeface="Calibri"/>
              </a:rPr>
              <a:t>87K+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AMFI</a:t>
            </a:r>
            <a:r>
              <a:rPr sz="900" spc="-4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Records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76812" y="2947987"/>
            <a:ext cx="1104900" cy="867410"/>
            <a:chOff x="4976812" y="2947987"/>
            <a:chExt cx="1104900" cy="867410"/>
          </a:xfrm>
        </p:grpSpPr>
        <p:sp>
          <p:nvSpPr>
            <p:cNvPr id="13" name="object 13"/>
            <p:cNvSpPr/>
            <p:nvPr/>
          </p:nvSpPr>
          <p:spPr>
            <a:xfrm>
              <a:off x="498157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1019094" y="857399"/>
                  </a:move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7" y="851411"/>
                  </a:lnTo>
                  <a:lnTo>
                    <a:pt x="1019094" y="8573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8157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0" y="76205"/>
                  </a:move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7" y="851411"/>
                  </a:lnTo>
                  <a:lnTo>
                    <a:pt x="1019094" y="857399"/>
                  </a:ln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81941" y="3025659"/>
            <a:ext cx="694690" cy="59372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800" b="1" spc="-25" dirty="0">
                <a:solidFill>
                  <a:srgbClr val="00D4AA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Fund</a:t>
            </a:r>
            <a:r>
              <a:rPr sz="900" spc="-4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Schemes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15062" y="2947987"/>
            <a:ext cx="1104900" cy="867410"/>
            <a:chOff x="6215062" y="2947987"/>
            <a:chExt cx="1104900" cy="867410"/>
          </a:xfrm>
        </p:grpSpPr>
        <p:sp>
          <p:nvSpPr>
            <p:cNvPr id="17" name="object 17"/>
            <p:cNvSpPr/>
            <p:nvPr/>
          </p:nvSpPr>
          <p:spPr>
            <a:xfrm>
              <a:off x="621982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1019094" y="857399"/>
                  </a:move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6" y="851411"/>
                  </a:lnTo>
                  <a:lnTo>
                    <a:pt x="1019094" y="8573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1982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0" y="76205"/>
                  </a:move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6" y="851411"/>
                  </a:lnTo>
                  <a:lnTo>
                    <a:pt x="1019094" y="857399"/>
                  </a:ln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90444" y="3025659"/>
            <a:ext cx="753745" cy="59372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800" b="1" dirty="0">
                <a:solidFill>
                  <a:srgbClr val="00D4AA"/>
                </a:solidFill>
                <a:latin typeface="Arial"/>
                <a:cs typeface="Arial"/>
              </a:rPr>
              <a:t>₹</a:t>
            </a:r>
            <a:r>
              <a:rPr sz="1800" b="1" dirty="0">
                <a:solidFill>
                  <a:srgbClr val="00D4AA"/>
                </a:solidFill>
                <a:latin typeface="Calibri"/>
                <a:cs typeface="Calibri"/>
              </a:rPr>
              <a:t>391</a:t>
            </a:r>
            <a:r>
              <a:rPr sz="1800" b="1" spc="-4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00D4AA"/>
                </a:solidFill>
                <a:latin typeface="Calibri"/>
                <a:cs typeface="Calibri"/>
              </a:rPr>
              <a:t>Cr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900" spc="-20" dirty="0">
                <a:solidFill>
                  <a:srgbClr val="94A3B8"/>
                </a:solidFill>
                <a:latin typeface="Calibri"/>
                <a:cs typeface="Calibri"/>
              </a:rPr>
              <a:t>Total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94A3B8"/>
                </a:solidFill>
                <a:latin typeface="Calibri"/>
                <a:cs typeface="Calibri"/>
              </a:rPr>
              <a:t>AUM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53312" y="2947987"/>
            <a:ext cx="1104900" cy="867410"/>
            <a:chOff x="7453312" y="2947987"/>
            <a:chExt cx="1104900" cy="867410"/>
          </a:xfrm>
        </p:grpSpPr>
        <p:sp>
          <p:nvSpPr>
            <p:cNvPr id="21" name="object 21"/>
            <p:cNvSpPr/>
            <p:nvPr/>
          </p:nvSpPr>
          <p:spPr>
            <a:xfrm>
              <a:off x="745807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1019094" y="857399"/>
                  </a:moveTo>
                  <a:lnTo>
                    <a:pt x="76205" y="857399"/>
                  </a:lnTo>
                  <a:lnTo>
                    <a:pt x="46543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lnTo>
                    <a:pt x="5988" y="46543"/>
                  </a:lnTo>
                  <a:lnTo>
                    <a:pt x="22320" y="22320"/>
                  </a:lnTo>
                  <a:lnTo>
                    <a:pt x="46543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6" y="851411"/>
                  </a:lnTo>
                  <a:lnTo>
                    <a:pt x="1019094" y="8573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5807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0" y="76205"/>
                  </a:moveTo>
                  <a:lnTo>
                    <a:pt x="5988" y="46543"/>
                  </a:lnTo>
                  <a:lnTo>
                    <a:pt x="22320" y="22320"/>
                  </a:lnTo>
                  <a:lnTo>
                    <a:pt x="46543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6" y="851411"/>
                  </a:lnTo>
                  <a:lnTo>
                    <a:pt x="1019094" y="857399"/>
                  </a:lnTo>
                  <a:lnTo>
                    <a:pt x="76205" y="857399"/>
                  </a:lnTo>
                  <a:lnTo>
                    <a:pt x="46543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711935" y="3025659"/>
            <a:ext cx="587375" cy="59372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800" b="1" spc="-25" dirty="0">
                <a:solidFill>
                  <a:srgbClr val="00D4AA"/>
                </a:solidFill>
                <a:latin typeface="Calibri"/>
                <a:cs typeface="Calibri"/>
              </a:rPr>
              <a:t>12+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Risk</a:t>
            </a:r>
            <a:r>
              <a:rPr sz="90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Metrics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30625" y="4430470"/>
            <a:ext cx="352679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4A3B8"/>
                </a:solidFill>
                <a:latin typeface="Calibri"/>
                <a:cs typeface="Calibri"/>
              </a:rPr>
              <a:t>Prepared</a:t>
            </a:r>
            <a:r>
              <a:rPr sz="10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4A3B8"/>
                </a:solidFill>
                <a:latin typeface="Calibri"/>
                <a:cs typeface="Calibri"/>
              </a:rPr>
              <a:t>by:</a:t>
            </a:r>
            <a:r>
              <a:rPr sz="10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lang="en-US" sz="1000" spc="-15" dirty="0">
                <a:solidFill>
                  <a:srgbClr val="94A3B8"/>
                </a:solidFill>
                <a:latin typeface="Calibri"/>
                <a:cs typeface="Calibri"/>
              </a:rPr>
              <a:t>Sanchit Bhoir</a:t>
            </a:r>
            <a:r>
              <a:rPr sz="10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0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4A3B8"/>
                </a:solidFill>
                <a:latin typeface="Calibri"/>
                <a:cs typeface="Calibri"/>
              </a:rPr>
              <a:t>Data</a:t>
            </a:r>
            <a:r>
              <a:rPr sz="10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4A3B8"/>
                </a:solidFill>
                <a:latin typeface="Calibri"/>
                <a:cs typeface="Calibri"/>
              </a:rPr>
              <a:t>Analyst</a:t>
            </a:r>
            <a:r>
              <a:rPr lang="en-US" sz="1000" dirty="0">
                <a:solidFill>
                  <a:srgbClr val="94A3B8"/>
                </a:solidFill>
                <a:latin typeface="Calibri"/>
                <a:cs typeface="Calibri"/>
              </a:rPr>
              <a:t> Intern</a:t>
            </a:r>
            <a:r>
              <a:rPr sz="10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0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4A3B8"/>
                </a:solidFill>
                <a:latin typeface="Calibri"/>
                <a:cs typeface="Calibri"/>
              </a:rPr>
              <a:t>BlueStock</a:t>
            </a:r>
            <a:r>
              <a:rPr sz="10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4A3B8"/>
                </a:solidFill>
                <a:latin typeface="Calibri"/>
                <a:cs typeface="Calibri"/>
              </a:rPr>
              <a:t>Fintech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222" y="2550413"/>
            <a:ext cx="1753870" cy="518159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1600" b="1" spc="-20" dirty="0">
                <a:solidFill>
                  <a:srgbClr val="00D4AA"/>
                </a:solidFill>
                <a:latin typeface="Calibri"/>
                <a:cs typeface="Calibri"/>
              </a:rPr>
              <a:t>BLUESTOCK</a:t>
            </a:r>
            <a:r>
              <a:rPr sz="16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D4AA"/>
                </a:solidFill>
                <a:latin typeface="Calibri"/>
                <a:cs typeface="Calibri"/>
              </a:rPr>
              <a:t>FINTECH</a:t>
            </a:r>
            <a:endParaRPr sz="16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330"/>
              </a:spcBef>
            </a:pPr>
            <a:r>
              <a:rPr sz="800" spc="-45" dirty="0">
                <a:solidFill>
                  <a:srgbClr val="94A3B8"/>
                </a:solidFill>
                <a:latin typeface="Calibri"/>
                <a:cs typeface="Calibri"/>
              </a:rPr>
              <a:t>DATA</a:t>
            </a:r>
            <a:r>
              <a:rPr sz="800" spc="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94A3B8"/>
                </a:solidFill>
                <a:latin typeface="Calibri"/>
                <a:cs typeface="Calibri"/>
              </a:rPr>
              <a:t>ANALYTICS</a:t>
            </a:r>
            <a:r>
              <a:rPr sz="800" spc="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94A3B8"/>
                </a:solidFill>
                <a:latin typeface="Calibri"/>
                <a:cs typeface="Calibri"/>
              </a:rPr>
              <a:t>DIVISION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8300" y="270661"/>
            <a:ext cx="557466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dirty="0">
                <a:latin typeface="Cambria"/>
                <a:cs typeface="Cambria"/>
              </a:rPr>
              <a:t>Problem</a:t>
            </a:r>
            <a:r>
              <a:rPr sz="2950" spc="-60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Statement</a:t>
            </a:r>
            <a:r>
              <a:rPr sz="2950" spc="-50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&amp;</a:t>
            </a:r>
            <a:r>
              <a:rPr sz="2950" spc="-50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Objectives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300" y="826082"/>
            <a:ext cx="38207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94A3B8"/>
                </a:solidFill>
                <a:latin typeface="Calibri"/>
                <a:cs typeface="Calibri"/>
              </a:rPr>
              <a:t>Why</a:t>
            </a:r>
            <a:r>
              <a:rPr sz="14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94A3B8"/>
                </a:solidFill>
                <a:latin typeface="Calibri"/>
                <a:cs typeface="Calibri"/>
              </a:rPr>
              <a:t>institutional-</a:t>
            </a:r>
            <a:r>
              <a:rPr sz="1400" spc="-10" dirty="0">
                <a:solidFill>
                  <a:srgbClr val="94A3B8"/>
                </a:solidFill>
                <a:latin typeface="Calibri"/>
                <a:cs typeface="Calibri"/>
              </a:rPr>
              <a:t>grade analytics </a:t>
            </a:r>
            <a:r>
              <a:rPr sz="1400" dirty="0">
                <a:solidFill>
                  <a:srgbClr val="94A3B8"/>
                </a:solidFill>
                <a:latin typeface="Calibri"/>
                <a:cs typeface="Calibri"/>
              </a:rPr>
              <a:t>for</a:t>
            </a:r>
            <a:r>
              <a:rPr sz="1400" spc="-10" dirty="0">
                <a:solidFill>
                  <a:srgbClr val="94A3B8"/>
                </a:solidFill>
                <a:latin typeface="Calibri"/>
                <a:cs typeface="Calibri"/>
              </a:rPr>
              <a:t> retail investors?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6237" y="1143000"/>
            <a:ext cx="4105910" cy="3624579"/>
            <a:chOff x="376237" y="1143000"/>
            <a:chExt cx="4105910" cy="3624579"/>
          </a:xfrm>
        </p:grpSpPr>
        <p:sp>
          <p:nvSpPr>
            <p:cNvPr id="6" name="object 6"/>
            <p:cNvSpPr/>
            <p:nvPr/>
          </p:nvSpPr>
          <p:spPr>
            <a:xfrm>
              <a:off x="381000" y="1143000"/>
              <a:ext cx="1143000" cy="38100"/>
            </a:xfrm>
            <a:custGeom>
              <a:avLst/>
              <a:gdLst/>
              <a:ahLst/>
              <a:cxnLst/>
              <a:rect l="l" t="t" r="r" b="b"/>
              <a:pathLst>
                <a:path w="1143000" h="38100">
                  <a:moveTo>
                    <a:pt x="1142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42999" y="0"/>
                  </a:lnTo>
                  <a:lnTo>
                    <a:pt x="11429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1428750"/>
              <a:ext cx="4096385" cy="3334385"/>
            </a:xfrm>
            <a:custGeom>
              <a:avLst/>
              <a:gdLst/>
              <a:ahLst/>
              <a:cxnLst/>
              <a:rect l="l" t="t" r="r" b="b"/>
              <a:pathLst>
                <a:path w="4096385" h="3334385">
                  <a:moveTo>
                    <a:pt x="3981613" y="3333899"/>
                  </a:moveTo>
                  <a:lnTo>
                    <a:pt x="114286" y="3333899"/>
                  </a:lnTo>
                  <a:lnTo>
                    <a:pt x="69800" y="3324918"/>
                  </a:lnTo>
                  <a:lnTo>
                    <a:pt x="33473" y="3300426"/>
                  </a:lnTo>
                  <a:lnTo>
                    <a:pt x="8981" y="3264099"/>
                  </a:lnTo>
                  <a:lnTo>
                    <a:pt x="0" y="3219613"/>
                  </a:lnTo>
                  <a:lnTo>
                    <a:pt x="0" y="114286"/>
                  </a:ln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6" y="0"/>
                  </a:lnTo>
                  <a:lnTo>
                    <a:pt x="3981613" y="0"/>
                  </a:lnTo>
                  <a:lnTo>
                    <a:pt x="4025349" y="8699"/>
                  </a:lnTo>
                  <a:lnTo>
                    <a:pt x="4062426" y="33473"/>
                  </a:lnTo>
                  <a:lnTo>
                    <a:pt x="4087200" y="70550"/>
                  </a:lnTo>
                  <a:lnTo>
                    <a:pt x="4095899" y="114286"/>
                  </a:lnTo>
                  <a:lnTo>
                    <a:pt x="4095899" y="3219613"/>
                  </a:lnTo>
                  <a:lnTo>
                    <a:pt x="4086918" y="3264099"/>
                  </a:lnTo>
                  <a:lnTo>
                    <a:pt x="4062426" y="3300426"/>
                  </a:lnTo>
                  <a:lnTo>
                    <a:pt x="4026099" y="3324918"/>
                  </a:lnTo>
                  <a:lnTo>
                    <a:pt x="3981613" y="33338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000" y="1428750"/>
              <a:ext cx="4096385" cy="3334385"/>
            </a:xfrm>
            <a:custGeom>
              <a:avLst/>
              <a:gdLst/>
              <a:ahLst/>
              <a:cxnLst/>
              <a:rect l="l" t="t" r="r" b="b"/>
              <a:pathLst>
                <a:path w="4096385" h="3334385">
                  <a:moveTo>
                    <a:pt x="0" y="114286"/>
                  </a:move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6" y="0"/>
                  </a:lnTo>
                  <a:lnTo>
                    <a:pt x="3981613" y="0"/>
                  </a:lnTo>
                  <a:lnTo>
                    <a:pt x="4025349" y="8699"/>
                  </a:lnTo>
                  <a:lnTo>
                    <a:pt x="4062426" y="33473"/>
                  </a:lnTo>
                  <a:lnTo>
                    <a:pt x="4087200" y="70550"/>
                  </a:lnTo>
                  <a:lnTo>
                    <a:pt x="4095899" y="114286"/>
                  </a:lnTo>
                  <a:lnTo>
                    <a:pt x="4095899" y="3219613"/>
                  </a:lnTo>
                  <a:lnTo>
                    <a:pt x="4086918" y="3264099"/>
                  </a:lnTo>
                  <a:lnTo>
                    <a:pt x="4062426" y="3300426"/>
                  </a:lnTo>
                  <a:lnTo>
                    <a:pt x="4026099" y="3324918"/>
                  </a:lnTo>
                  <a:lnTo>
                    <a:pt x="3981613" y="3333899"/>
                  </a:lnTo>
                  <a:lnTo>
                    <a:pt x="114286" y="3333899"/>
                  </a:lnTo>
                  <a:lnTo>
                    <a:pt x="69800" y="3324918"/>
                  </a:lnTo>
                  <a:lnTo>
                    <a:pt x="33473" y="3300426"/>
                  </a:lnTo>
                  <a:lnTo>
                    <a:pt x="8981" y="3264099"/>
                  </a:lnTo>
                  <a:lnTo>
                    <a:pt x="0" y="3219613"/>
                  </a:lnTo>
                  <a:lnTo>
                    <a:pt x="0" y="114286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5" y="1675130"/>
              <a:ext cx="285750" cy="2413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PROBLEM</a:t>
            </a:r>
          </a:p>
          <a:p>
            <a:pPr marL="12700" marR="381000" indent="172720">
              <a:lnSpc>
                <a:spcPct val="100000"/>
              </a:lnSpc>
              <a:spcBef>
                <a:spcPts val="1685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Mutual</a:t>
            </a:r>
            <a:r>
              <a:rPr sz="1100" b="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data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is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scattered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across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40+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AMCs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with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25" dirty="0">
                <a:solidFill>
                  <a:srgbClr val="E1E7F0"/>
                </a:solidFill>
                <a:latin typeface="Calibri"/>
                <a:cs typeface="Calibri"/>
              </a:rPr>
              <a:t>no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unified</a:t>
            </a:r>
            <a:r>
              <a:rPr sz="1100" b="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view</a:t>
            </a:r>
            <a:endParaRPr sz="1100">
              <a:latin typeface="Calibri"/>
              <a:cs typeface="Calibri"/>
            </a:endParaRPr>
          </a:p>
          <a:p>
            <a:pPr marL="12700" marR="123825" indent="172720">
              <a:lnSpc>
                <a:spcPct val="100000"/>
              </a:lnSpc>
              <a:spcBef>
                <a:spcPts val="900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Retail</a:t>
            </a:r>
            <a:r>
              <a:rPr sz="1100" b="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investors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lack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access</a:t>
            </a:r>
            <a:r>
              <a:rPr sz="1100" b="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 institutional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metrics</a:t>
            </a:r>
            <a:r>
              <a:rPr sz="1100" b="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(VaR, 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CVaR,</a:t>
            </a:r>
            <a:r>
              <a:rPr sz="1100" b="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Sharpe)</a:t>
            </a:r>
            <a:endParaRPr sz="1100">
              <a:latin typeface="Calibri"/>
              <a:cs typeface="Calibri"/>
            </a:endParaRPr>
          </a:p>
          <a:p>
            <a:pPr marL="12700" marR="5080" indent="172720">
              <a:lnSpc>
                <a:spcPct val="100000"/>
              </a:lnSpc>
              <a:spcBef>
                <a:spcPts val="900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No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 systematic</a:t>
            </a:r>
            <a:r>
              <a:rPr sz="1100" b="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sector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 concentration</a:t>
            </a:r>
            <a:r>
              <a:rPr sz="1100" b="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analysis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for</a:t>
            </a:r>
            <a:r>
              <a:rPr sz="1100" b="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portfolio-level </a:t>
            </a:r>
            <a:r>
              <a:rPr sz="1100" b="0" spc="-20" dirty="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endParaRPr sz="1100">
              <a:latin typeface="Calibri"/>
              <a:cs typeface="Calibri"/>
            </a:endParaRPr>
          </a:p>
          <a:p>
            <a:pPr marL="12700" marR="242570" indent="172720">
              <a:lnSpc>
                <a:spcPct val="100000"/>
              </a:lnSpc>
              <a:spcBef>
                <a:spcPts val="900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Investor</a:t>
            </a:r>
            <a:r>
              <a:rPr sz="1100" b="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churn</a:t>
            </a:r>
            <a:r>
              <a:rPr sz="1100" b="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signals</a:t>
            </a:r>
            <a:r>
              <a:rPr sz="1100" b="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go</a:t>
            </a:r>
            <a:r>
              <a:rPr sz="1100" b="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undetected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without</a:t>
            </a:r>
            <a:r>
              <a:rPr sz="1100" b="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behavioural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cohort</a:t>
            </a:r>
            <a:r>
              <a:rPr sz="1100" b="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analytics</a:t>
            </a:r>
            <a:endParaRPr sz="1100">
              <a:latin typeface="Calibri"/>
              <a:cs typeface="Calibri"/>
            </a:endParaRPr>
          </a:p>
          <a:p>
            <a:pPr marL="12700" marR="97155" indent="172720">
              <a:lnSpc>
                <a:spcPct val="100000"/>
              </a:lnSpc>
              <a:spcBef>
                <a:spcPts val="900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Static</a:t>
            </a:r>
            <a:r>
              <a:rPr sz="1100" b="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AMFI</a:t>
            </a:r>
            <a:r>
              <a:rPr sz="1100" b="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reports</a:t>
            </a:r>
            <a:r>
              <a:rPr sz="1100" b="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cannot</a:t>
            </a:r>
            <a:r>
              <a:rPr sz="1100" b="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track</a:t>
            </a:r>
            <a:r>
              <a:rPr sz="1100" b="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real-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time</a:t>
            </a:r>
            <a:r>
              <a:rPr sz="1100" b="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NAV</a:t>
            </a:r>
            <a:r>
              <a:rPr sz="1100" b="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trends</a:t>
            </a:r>
            <a:r>
              <a:rPr sz="1100" b="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E1E7F0"/>
                </a:solidFill>
                <a:latin typeface="Calibri"/>
                <a:cs typeface="Calibri"/>
              </a:rPr>
              <a:t>or</a:t>
            </a:r>
            <a:r>
              <a:rPr sz="1100" b="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b="0" spc="-25" dirty="0">
                <a:solidFill>
                  <a:srgbClr val="E1E7F0"/>
                </a:solidFill>
                <a:latin typeface="Calibri"/>
                <a:cs typeface="Calibri"/>
              </a:rPr>
              <a:t>SIP </a:t>
            </a:r>
            <a:r>
              <a:rPr sz="1100" b="0" spc="-10" dirty="0">
                <a:solidFill>
                  <a:srgbClr val="E1E7F0"/>
                </a:solidFill>
                <a:latin typeface="Calibri"/>
                <a:cs typeface="Calibri"/>
              </a:rPr>
              <a:t>anomalies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62487" y="1423987"/>
            <a:ext cx="4105910" cy="3343910"/>
            <a:chOff x="4662487" y="1423987"/>
            <a:chExt cx="4105910" cy="3343910"/>
          </a:xfrm>
        </p:grpSpPr>
        <p:sp>
          <p:nvSpPr>
            <p:cNvPr id="12" name="object 12"/>
            <p:cNvSpPr/>
            <p:nvPr/>
          </p:nvSpPr>
          <p:spPr>
            <a:xfrm>
              <a:off x="4667250" y="1428750"/>
              <a:ext cx="4096385" cy="3334385"/>
            </a:xfrm>
            <a:custGeom>
              <a:avLst/>
              <a:gdLst/>
              <a:ahLst/>
              <a:cxnLst/>
              <a:rect l="l" t="t" r="r" b="b"/>
              <a:pathLst>
                <a:path w="4096384" h="3334385">
                  <a:moveTo>
                    <a:pt x="3981613" y="3333899"/>
                  </a:moveTo>
                  <a:lnTo>
                    <a:pt x="114285" y="3333899"/>
                  </a:lnTo>
                  <a:lnTo>
                    <a:pt x="69800" y="3324918"/>
                  </a:lnTo>
                  <a:lnTo>
                    <a:pt x="33473" y="3300426"/>
                  </a:lnTo>
                  <a:lnTo>
                    <a:pt x="8981" y="3264099"/>
                  </a:lnTo>
                  <a:lnTo>
                    <a:pt x="0" y="3219613"/>
                  </a:lnTo>
                  <a:lnTo>
                    <a:pt x="0" y="114286"/>
                  </a:ln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5" y="0"/>
                  </a:lnTo>
                  <a:lnTo>
                    <a:pt x="3981613" y="0"/>
                  </a:lnTo>
                  <a:lnTo>
                    <a:pt x="4025349" y="8699"/>
                  </a:lnTo>
                  <a:lnTo>
                    <a:pt x="4062426" y="33473"/>
                  </a:lnTo>
                  <a:lnTo>
                    <a:pt x="4087200" y="70550"/>
                  </a:lnTo>
                  <a:lnTo>
                    <a:pt x="4095899" y="114286"/>
                  </a:lnTo>
                  <a:lnTo>
                    <a:pt x="4095899" y="3219613"/>
                  </a:lnTo>
                  <a:lnTo>
                    <a:pt x="4086918" y="3264099"/>
                  </a:lnTo>
                  <a:lnTo>
                    <a:pt x="4062426" y="3300426"/>
                  </a:lnTo>
                  <a:lnTo>
                    <a:pt x="4026099" y="3324918"/>
                  </a:lnTo>
                  <a:lnTo>
                    <a:pt x="3981613" y="33338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67250" y="1428750"/>
              <a:ext cx="4096385" cy="3334385"/>
            </a:xfrm>
            <a:custGeom>
              <a:avLst/>
              <a:gdLst/>
              <a:ahLst/>
              <a:cxnLst/>
              <a:rect l="l" t="t" r="r" b="b"/>
              <a:pathLst>
                <a:path w="4096384" h="3334385">
                  <a:moveTo>
                    <a:pt x="0" y="114286"/>
                  </a:move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5" y="0"/>
                  </a:lnTo>
                  <a:lnTo>
                    <a:pt x="3981613" y="0"/>
                  </a:lnTo>
                  <a:lnTo>
                    <a:pt x="4025349" y="8699"/>
                  </a:lnTo>
                  <a:lnTo>
                    <a:pt x="4062426" y="33473"/>
                  </a:lnTo>
                  <a:lnTo>
                    <a:pt x="4087200" y="70550"/>
                  </a:lnTo>
                  <a:lnTo>
                    <a:pt x="4095899" y="114286"/>
                  </a:lnTo>
                  <a:lnTo>
                    <a:pt x="4095899" y="3219613"/>
                  </a:lnTo>
                  <a:lnTo>
                    <a:pt x="4086918" y="3264099"/>
                  </a:lnTo>
                  <a:lnTo>
                    <a:pt x="4062426" y="3300426"/>
                  </a:lnTo>
                  <a:lnTo>
                    <a:pt x="4026099" y="3324918"/>
                  </a:lnTo>
                  <a:lnTo>
                    <a:pt x="3981613" y="3333899"/>
                  </a:lnTo>
                  <a:lnTo>
                    <a:pt x="114285" y="3333899"/>
                  </a:lnTo>
                  <a:lnTo>
                    <a:pt x="69800" y="3324918"/>
                  </a:lnTo>
                  <a:lnTo>
                    <a:pt x="33473" y="3300426"/>
                  </a:lnTo>
                  <a:lnTo>
                    <a:pt x="8981" y="3264099"/>
                  </a:lnTo>
                  <a:lnTo>
                    <a:pt x="0" y="3219613"/>
                  </a:lnTo>
                  <a:lnTo>
                    <a:pt x="0" y="114286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1250" y="1675130"/>
              <a:ext cx="254000" cy="254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21300" y="1667002"/>
            <a:ext cx="179006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0D4AA"/>
                </a:solidFill>
                <a:latin typeface="Calibri"/>
                <a:cs typeface="Calibri"/>
              </a:rPr>
              <a:t>PROJECT</a:t>
            </a:r>
            <a:r>
              <a:rPr sz="1600" b="1" spc="-9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D4AA"/>
                </a:solidFill>
                <a:latin typeface="Calibri"/>
                <a:cs typeface="Calibri"/>
              </a:rPr>
              <a:t>OBJECTIVES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5050" y="2356257"/>
            <a:ext cx="3601720" cy="199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1290" indent="178435">
              <a:lnSpc>
                <a:spcPct val="100000"/>
              </a:lnSpc>
              <a:spcBef>
                <a:spcPts val="1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Build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SQL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Star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Schema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ETL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pipeline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from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raw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AMFI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data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(87K+</a:t>
            </a:r>
            <a:r>
              <a:rPr sz="1100" spc="-5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rows)</a:t>
            </a:r>
            <a:endParaRPr sz="1100">
              <a:latin typeface="Calibri"/>
              <a:cs typeface="Calibri"/>
            </a:endParaRPr>
          </a:p>
          <a:p>
            <a:pPr marL="12700" marR="184785" indent="178435">
              <a:lnSpc>
                <a:spcPct val="100000"/>
              </a:lnSpc>
              <a:spcBef>
                <a:spcPts val="9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Compute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3Y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CAGR,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Sharpe,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Sortino,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VaR,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CVaR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Alpha metrics</a:t>
            </a:r>
            <a:endParaRPr sz="1100">
              <a:latin typeface="Calibri"/>
              <a:cs typeface="Calibri"/>
            </a:endParaRPr>
          </a:p>
          <a:p>
            <a:pPr marL="12700" marR="66675" indent="178435">
              <a:lnSpc>
                <a:spcPct val="100000"/>
              </a:lnSpc>
              <a:spcBef>
                <a:spcPts val="9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Implement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HHI-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based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sector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concentration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scoring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per 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endParaRPr sz="1100">
              <a:latin typeface="Calibri"/>
              <a:cs typeface="Calibri"/>
            </a:endParaRPr>
          </a:p>
          <a:p>
            <a:pPr marL="12700" marR="272415" indent="178435">
              <a:lnSpc>
                <a:spcPct val="100000"/>
              </a:lnSpc>
              <a:spcBef>
                <a:spcPts val="9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Perform</a:t>
            </a:r>
            <a:r>
              <a:rPr sz="11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investor behavioural</a:t>
            </a:r>
            <a:r>
              <a:rPr sz="11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cohort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analysis</a:t>
            </a:r>
            <a:r>
              <a:rPr sz="11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churn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prediction</a:t>
            </a:r>
            <a:endParaRPr sz="1100">
              <a:latin typeface="Calibri"/>
              <a:cs typeface="Calibri"/>
            </a:endParaRPr>
          </a:p>
          <a:p>
            <a:pPr marL="191135" indent="-178435">
              <a:lnSpc>
                <a:spcPct val="100000"/>
              </a:lnSpc>
              <a:spcBef>
                <a:spcPts val="9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Deliver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</a:t>
            </a:r>
            <a:r>
              <a:rPr sz="11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4-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page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interactive</a:t>
            </a:r>
            <a:r>
              <a:rPr sz="11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Power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BI</a:t>
            </a:r>
            <a:r>
              <a:rPr sz="11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intelligence</a:t>
            </a:r>
            <a:r>
              <a:rPr sz="11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dashboard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283666"/>
            <a:ext cx="42532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"/>
                <a:cs typeface="Cambria"/>
              </a:rPr>
              <a:t>Data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Sourcing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&amp;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Ingestion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300" y="842338"/>
            <a:ext cx="2738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AMFI</a:t>
            </a:r>
            <a:r>
              <a:rPr sz="12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Calibri"/>
                <a:cs typeface="Calibri"/>
              </a:rPr>
              <a:t>static</a:t>
            </a:r>
            <a:r>
              <a:rPr sz="12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Calibri"/>
                <a:cs typeface="Calibri"/>
              </a:rPr>
              <a:t>datasets</a:t>
            </a:r>
            <a:r>
              <a:rPr sz="12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+</a:t>
            </a:r>
            <a:r>
              <a:rPr sz="12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Calibri"/>
                <a:cs typeface="Calibri"/>
              </a:rPr>
              <a:t>mfapi.in</a:t>
            </a:r>
            <a:r>
              <a:rPr sz="12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live</a:t>
            </a:r>
            <a:r>
              <a:rPr sz="12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REST</a:t>
            </a:r>
            <a:r>
              <a:rPr sz="1200" spc="-25" dirty="0">
                <a:solidFill>
                  <a:srgbClr val="94A3B8"/>
                </a:solidFill>
                <a:latin typeface="Calibri"/>
                <a:cs typeface="Calibri"/>
              </a:rPr>
              <a:t> API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6237" y="1233487"/>
            <a:ext cx="4105910" cy="2486025"/>
            <a:chOff x="376237" y="1233487"/>
            <a:chExt cx="4105910" cy="2486025"/>
          </a:xfrm>
        </p:grpSpPr>
        <p:sp>
          <p:nvSpPr>
            <p:cNvPr id="5" name="object 5"/>
            <p:cNvSpPr/>
            <p:nvPr/>
          </p:nvSpPr>
          <p:spPr>
            <a:xfrm>
              <a:off x="381000" y="1238250"/>
              <a:ext cx="4096385" cy="2476500"/>
            </a:xfrm>
            <a:custGeom>
              <a:avLst/>
              <a:gdLst/>
              <a:ahLst/>
              <a:cxnLst/>
              <a:rect l="l" t="t" r="r" b="b"/>
              <a:pathLst>
                <a:path w="4096385" h="2476500">
                  <a:moveTo>
                    <a:pt x="3981609" y="2476499"/>
                  </a:move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3981609" y="0"/>
                  </a:lnTo>
                  <a:lnTo>
                    <a:pt x="4025346" y="8699"/>
                  </a:lnTo>
                  <a:lnTo>
                    <a:pt x="4062424" y="33474"/>
                  </a:lnTo>
                  <a:lnTo>
                    <a:pt x="4087200" y="70553"/>
                  </a:lnTo>
                  <a:lnTo>
                    <a:pt x="4095899" y="114290"/>
                  </a:lnTo>
                  <a:lnTo>
                    <a:pt x="4095899" y="2362209"/>
                  </a:lnTo>
                  <a:lnTo>
                    <a:pt x="4086918" y="2406696"/>
                  </a:lnTo>
                  <a:lnTo>
                    <a:pt x="4062425" y="2443025"/>
                  </a:lnTo>
                  <a:lnTo>
                    <a:pt x="4026096" y="2467518"/>
                  </a:lnTo>
                  <a:lnTo>
                    <a:pt x="3981609" y="2476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000" y="1238250"/>
              <a:ext cx="4096385" cy="2476500"/>
            </a:xfrm>
            <a:custGeom>
              <a:avLst/>
              <a:gdLst/>
              <a:ahLst/>
              <a:cxnLst/>
              <a:rect l="l" t="t" r="r" b="b"/>
              <a:pathLst>
                <a:path w="4096385" h="2476500">
                  <a:moveTo>
                    <a:pt x="0" y="114290"/>
                  </a:move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3981609" y="0"/>
                  </a:lnTo>
                  <a:lnTo>
                    <a:pt x="4025346" y="8699"/>
                  </a:lnTo>
                  <a:lnTo>
                    <a:pt x="4062424" y="33474"/>
                  </a:lnTo>
                  <a:lnTo>
                    <a:pt x="4087200" y="70553"/>
                  </a:lnTo>
                  <a:lnTo>
                    <a:pt x="4095899" y="114290"/>
                  </a:lnTo>
                  <a:lnTo>
                    <a:pt x="4095899" y="2362209"/>
                  </a:lnTo>
                  <a:lnTo>
                    <a:pt x="4086918" y="2406696"/>
                  </a:lnTo>
                  <a:lnTo>
                    <a:pt x="4062425" y="2443025"/>
                  </a:lnTo>
                  <a:lnTo>
                    <a:pt x="4026096" y="2467518"/>
                  </a:lnTo>
                  <a:lnTo>
                    <a:pt x="3981609" y="2476499"/>
                  </a:ln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1428750"/>
              <a:ext cx="380999" cy="3809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35050" y="1511808"/>
            <a:ext cx="1882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D4AA"/>
                </a:solidFill>
                <a:latin typeface="Calibri"/>
                <a:cs typeface="Calibri"/>
              </a:rPr>
              <a:t>AMFI</a:t>
            </a:r>
            <a:r>
              <a:rPr sz="1400" b="1" spc="-5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D4AA"/>
                </a:solidFill>
                <a:latin typeface="Calibri"/>
                <a:cs typeface="Calibri"/>
              </a:rPr>
              <a:t>India</a:t>
            </a:r>
            <a:r>
              <a:rPr sz="1400" b="1" spc="-5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D4AA"/>
                </a:solidFill>
                <a:latin typeface="Calibri"/>
                <a:cs typeface="Calibri"/>
              </a:rPr>
              <a:t>Static</a:t>
            </a:r>
            <a:r>
              <a:rPr sz="1400" b="1" spc="-5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D4AA"/>
                </a:solidFill>
                <a:latin typeface="Calibri"/>
                <a:cs typeface="Calibri"/>
              </a:rPr>
              <a:t>Dataset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080" y="1905762"/>
            <a:ext cx="2961005" cy="11684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7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87,000+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NAV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records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across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40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schemes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metadata: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AUM,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TER,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scheme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type,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AMC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Historical</a:t>
            </a:r>
            <a:r>
              <a:rPr sz="11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NAV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data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from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2022–2025</a:t>
            </a:r>
            <a:endParaRPr sz="1100">
              <a:latin typeface="Calibri"/>
              <a:cs typeface="Calibri"/>
            </a:endParaRPr>
          </a:p>
          <a:p>
            <a:pPr marL="325120" marR="41275" indent="-313055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Investor transaction</a:t>
            </a:r>
            <a:r>
              <a:rPr sz="11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records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(SIP</a:t>
            </a:r>
            <a:r>
              <a:rPr sz="11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/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Lumpsum</a:t>
            </a:r>
            <a:r>
              <a:rPr sz="11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E1E7F0"/>
                </a:solidFill>
                <a:latin typeface="Calibri"/>
                <a:cs typeface="Calibri"/>
              </a:rPr>
              <a:t>/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 Redemption)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62487" y="1233487"/>
            <a:ext cx="4105910" cy="2486025"/>
            <a:chOff x="4662487" y="1233487"/>
            <a:chExt cx="4105910" cy="2486025"/>
          </a:xfrm>
        </p:grpSpPr>
        <p:sp>
          <p:nvSpPr>
            <p:cNvPr id="11" name="object 11"/>
            <p:cNvSpPr/>
            <p:nvPr/>
          </p:nvSpPr>
          <p:spPr>
            <a:xfrm>
              <a:off x="4667250" y="1238250"/>
              <a:ext cx="4096385" cy="2476500"/>
            </a:xfrm>
            <a:custGeom>
              <a:avLst/>
              <a:gdLst/>
              <a:ahLst/>
              <a:cxnLst/>
              <a:rect l="l" t="t" r="r" b="b"/>
              <a:pathLst>
                <a:path w="4096384" h="2476500">
                  <a:moveTo>
                    <a:pt x="3981609" y="2476499"/>
                  </a:move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3981609" y="0"/>
                  </a:lnTo>
                  <a:lnTo>
                    <a:pt x="4025346" y="8699"/>
                  </a:lnTo>
                  <a:lnTo>
                    <a:pt x="4062424" y="33474"/>
                  </a:lnTo>
                  <a:lnTo>
                    <a:pt x="4087200" y="70553"/>
                  </a:lnTo>
                  <a:lnTo>
                    <a:pt x="4095899" y="114290"/>
                  </a:lnTo>
                  <a:lnTo>
                    <a:pt x="4095899" y="2362209"/>
                  </a:lnTo>
                  <a:lnTo>
                    <a:pt x="4086918" y="2406696"/>
                  </a:lnTo>
                  <a:lnTo>
                    <a:pt x="4062425" y="2443025"/>
                  </a:lnTo>
                  <a:lnTo>
                    <a:pt x="4026096" y="2467518"/>
                  </a:lnTo>
                  <a:lnTo>
                    <a:pt x="3981609" y="2476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67250" y="1238250"/>
              <a:ext cx="4096385" cy="2476500"/>
            </a:xfrm>
            <a:custGeom>
              <a:avLst/>
              <a:gdLst/>
              <a:ahLst/>
              <a:cxnLst/>
              <a:rect l="l" t="t" r="r" b="b"/>
              <a:pathLst>
                <a:path w="4096384" h="2476500">
                  <a:moveTo>
                    <a:pt x="0" y="114290"/>
                  </a:move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3981609" y="0"/>
                  </a:lnTo>
                  <a:lnTo>
                    <a:pt x="4025346" y="8699"/>
                  </a:lnTo>
                  <a:lnTo>
                    <a:pt x="4062424" y="33474"/>
                  </a:lnTo>
                  <a:lnTo>
                    <a:pt x="4087200" y="70553"/>
                  </a:lnTo>
                  <a:lnTo>
                    <a:pt x="4095899" y="114290"/>
                  </a:lnTo>
                  <a:lnTo>
                    <a:pt x="4095899" y="2362209"/>
                  </a:lnTo>
                  <a:lnTo>
                    <a:pt x="4086918" y="2406696"/>
                  </a:lnTo>
                  <a:lnTo>
                    <a:pt x="4062425" y="2443025"/>
                  </a:lnTo>
                  <a:lnTo>
                    <a:pt x="4026096" y="2467518"/>
                  </a:lnTo>
                  <a:lnTo>
                    <a:pt x="3981609" y="2476499"/>
                  </a:ln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50" y="1428750"/>
              <a:ext cx="380999" cy="3809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321300" y="1511808"/>
            <a:ext cx="16516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A8FF"/>
                </a:solidFill>
                <a:latin typeface="Calibri"/>
                <a:cs typeface="Calibri"/>
              </a:rPr>
              <a:t>mfapi.in</a:t>
            </a:r>
            <a:r>
              <a:rPr sz="1400" b="1" spc="-45" dirty="0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A8FF"/>
                </a:solidFill>
                <a:latin typeface="Calibri"/>
                <a:cs typeface="Calibri"/>
              </a:rPr>
              <a:t>Live</a:t>
            </a:r>
            <a:r>
              <a:rPr sz="1400" b="1" spc="-40" dirty="0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A8FF"/>
                </a:solidFill>
                <a:latin typeface="Calibri"/>
                <a:cs typeface="Calibri"/>
              </a:rPr>
              <a:t>REST</a:t>
            </a:r>
            <a:r>
              <a:rPr sz="1400" b="1" spc="-40" dirty="0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A8FF"/>
                </a:solidFill>
                <a:latin typeface="Calibri"/>
                <a:cs typeface="Calibri"/>
              </a:rPr>
              <a:t>API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9330" y="1905762"/>
            <a:ext cx="3499485" cy="10007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7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Real-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time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NAV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tracking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with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daily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refresh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JSON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endpoint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per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scheme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by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AMFI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code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Automated</a:t>
            </a:r>
            <a:r>
              <a:rPr sz="1100" spc="-4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ingestion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via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Python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requests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+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pandas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Enables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rolling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Sharpe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&amp;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VaR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computation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on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fresh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data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6237" y="3900487"/>
            <a:ext cx="8391525" cy="962025"/>
            <a:chOff x="376237" y="3900487"/>
            <a:chExt cx="8391525" cy="962025"/>
          </a:xfrm>
        </p:grpSpPr>
        <p:sp>
          <p:nvSpPr>
            <p:cNvPr id="17" name="object 17"/>
            <p:cNvSpPr/>
            <p:nvPr/>
          </p:nvSpPr>
          <p:spPr>
            <a:xfrm>
              <a:off x="381000" y="3905250"/>
              <a:ext cx="8382000" cy="952500"/>
            </a:xfrm>
            <a:custGeom>
              <a:avLst/>
              <a:gdLst/>
              <a:ahLst/>
              <a:cxnLst/>
              <a:rect l="l" t="t" r="r" b="b"/>
              <a:pathLst>
                <a:path w="8382000" h="952500">
                  <a:moveTo>
                    <a:pt x="8267699" y="952499"/>
                  </a:moveTo>
                  <a:lnTo>
                    <a:pt x="114299" y="952499"/>
                  </a:lnTo>
                  <a:lnTo>
                    <a:pt x="69809" y="943517"/>
                  </a:lnTo>
                  <a:lnTo>
                    <a:pt x="33477" y="919022"/>
                  </a:lnTo>
                  <a:lnTo>
                    <a:pt x="8982" y="882690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8267699" y="0"/>
                  </a:lnTo>
                  <a:lnTo>
                    <a:pt x="8311440" y="8700"/>
                  </a:lnTo>
                  <a:lnTo>
                    <a:pt x="8348522" y="33477"/>
                  </a:lnTo>
                  <a:lnTo>
                    <a:pt x="8373299" y="70559"/>
                  </a:lnTo>
                  <a:lnTo>
                    <a:pt x="8381999" y="114299"/>
                  </a:lnTo>
                  <a:lnTo>
                    <a:pt x="8381999" y="838199"/>
                  </a:lnTo>
                  <a:lnTo>
                    <a:pt x="8373017" y="882690"/>
                  </a:lnTo>
                  <a:lnTo>
                    <a:pt x="8348522" y="919022"/>
                  </a:lnTo>
                  <a:lnTo>
                    <a:pt x="8312190" y="943517"/>
                  </a:lnTo>
                  <a:lnTo>
                    <a:pt x="8267699" y="952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1000" y="3905250"/>
              <a:ext cx="8382000" cy="952500"/>
            </a:xfrm>
            <a:custGeom>
              <a:avLst/>
              <a:gdLst/>
              <a:ahLst/>
              <a:cxnLst/>
              <a:rect l="l" t="t" r="r" b="b"/>
              <a:pathLst>
                <a:path w="8382000" h="9525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8267699" y="0"/>
                  </a:lnTo>
                  <a:lnTo>
                    <a:pt x="8311440" y="8700"/>
                  </a:lnTo>
                  <a:lnTo>
                    <a:pt x="8348522" y="33477"/>
                  </a:lnTo>
                  <a:lnTo>
                    <a:pt x="8373299" y="70559"/>
                  </a:lnTo>
                  <a:lnTo>
                    <a:pt x="8381999" y="114299"/>
                  </a:lnTo>
                  <a:lnTo>
                    <a:pt x="8381999" y="838199"/>
                  </a:lnTo>
                  <a:lnTo>
                    <a:pt x="8373017" y="882690"/>
                  </a:lnTo>
                  <a:lnTo>
                    <a:pt x="8348522" y="919022"/>
                  </a:lnTo>
                  <a:lnTo>
                    <a:pt x="8312190" y="943517"/>
                  </a:lnTo>
                  <a:lnTo>
                    <a:pt x="8267699" y="952499"/>
                  </a:lnTo>
                  <a:lnTo>
                    <a:pt x="114299" y="952499"/>
                  </a:lnTo>
                  <a:lnTo>
                    <a:pt x="69809" y="943517"/>
                  </a:lnTo>
                  <a:lnTo>
                    <a:pt x="33477" y="919022"/>
                  </a:lnTo>
                  <a:lnTo>
                    <a:pt x="8982" y="882690"/>
                  </a:lnTo>
                  <a:lnTo>
                    <a:pt x="0" y="8381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8800" y="3983228"/>
            <a:ext cx="1019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5" dirty="0">
                <a:solidFill>
                  <a:srgbClr val="94A3B8"/>
                </a:solidFill>
                <a:latin typeface="Calibri"/>
                <a:cs typeface="Calibri"/>
              </a:rPr>
              <a:t>DATA</a:t>
            </a:r>
            <a:r>
              <a:rPr sz="900" b="1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94A3B8"/>
                </a:solidFill>
                <a:latin typeface="Calibri"/>
                <a:cs typeface="Calibri"/>
              </a:rPr>
              <a:t>PIPELINE</a:t>
            </a:r>
            <a:r>
              <a:rPr sz="900" b="1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94A3B8"/>
                </a:solidFill>
                <a:latin typeface="Calibri"/>
                <a:cs typeface="Calibri"/>
              </a:rPr>
              <a:t>FLOW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6737" y="4281487"/>
            <a:ext cx="1295400" cy="390525"/>
            <a:chOff x="566737" y="4281487"/>
            <a:chExt cx="1295400" cy="390525"/>
          </a:xfrm>
        </p:grpSpPr>
        <p:sp>
          <p:nvSpPr>
            <p:cNvPr id="21" name="object 21"/>
            <p:cNvSpPr/>
            <p:nvPr/>
          </p:nvSpPr>
          <p:spPr>
            <a:xfrm>
              <a:off x="571500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12286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1500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61227" y="4390898"/>
            <a:ext cx="706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AMFI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95549" y="4281487"/>
            <a:ext cx="1581150" cy="390525"/>
            <a:chOff x="1995549" y="4281487"/>
            <a:chExt cx="1581150" cy="39052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5549" y="4436745"/>
              <a:ext cx="161925" cy="6985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86000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12286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86000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636561" y="4390898"/>
            <a:ext cx="584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mfapi.in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710049" y="4286250"/>
            <a:ext cx="1576705" cy="381000"/>
            <a:chOff x="3710049" y="4286250"/>
            <a:chExt cx="1576705" cy="381000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0049" y="4436745"/>
              <a:ext cx="161925" cy="6985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000499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12286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6214" y="4390898"/>
            <a:ext cx="5537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900" b="1" spc="-10" dirty="0">
                <a:solidFill>
                  <a:srgbClr val="0A0F1E"/>
                </a:solidFill>
                <a:latin typeface="Calibri"/>
                <a:cs typeface="Calibri"/>
              </a:rPr>
              <a:t>P</a:t>
            </a:r>
            <a:r>
              <a:rPr sz="900" b="1" spc="-10" dirty="0">
                <a:solidFill>
                  <a:srgbClr val="0A0F1E"/>
                </a:solidFill>
                <a:latin typeface="Calibri"/>
                <a:cs typeface="Calibri"/>
              </a:rPr>
              <a:t>andas</a:t>
            </a:r>
            <a:r>
              <a:rPr sz="900" b="1" spc="-25" dirty="0">
                <a:solidFill>
                  <a:srgbClr val="0A0F1E"/>
                </a:solidFill>
                <a:latin typeface="Calibri"/>
                <a:cs typeface="Calibri"/>
              </a:rPr>
              <a:t> ETL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424549" y="4281487"/>
            <a:ext cx="1581150" cy="390525"/>
            <a:chOff x="5424549" y="4281487"/>
            <a:chExt cx="1581150" cy="39052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4549" y="4436745"/>
              <a:ext cx="161925" cy="698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714999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12286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0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14999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0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956703" y="4390898"/>
            <a:ext cx="8020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Star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139050" y="4281487"/>
            <a:ext cx="1534160" cy="390525"/>
            <a:chOff x="7139050" y="4281487"/>
            <a:chExt cx="1534160" cy="390525"/>
          </a:xfrm>
        </p:grpSpPr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9050" y="4436745"/>
              <a:ext cx="161925" cy="6985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429500" y="4286250"/>
              <a:ext cx="1238885" cy="381000"/>
            </a:xfrm>
            <a:custGeom>
              <a:avLst/>
              <a:gdLst/>
              <a:ahLst/>
              <a:cxnLst/>
              <a:rect l="l" t="t" r="r" b="b"/>
              <a:pathLst>
                <a:path w="1238884" h="381000">
                  <a:moveTo>
                    <a:pt x="11812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323849"/>
                  </a:lnTo>
                  <a:lnTo>
                    <a:pt x="1233908" y="346095"/>
                  </a:lnTo>
                  <a:lnTo>
                    <a:pt x="1221661" y="364261"/>
                  </a:lnTo>
                  <a:lnTo>
                    <a:pt x="1203495" y="376508"/>
                  </a:lnTo>
                  <a:lnTo>
                    <a:pt x="1181249" y="380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429500" y="4286250"/>
              <a:ext cx="1238885" cy="381000"/>
            </a:xfrm>
            <a:custGeom>
              <a:avLst/>
              <a:gdLst/>
              <a:ahLst/>
              <a:cxnLst/>
              <a:rect l="l" t="t" r="r" b="b"/>
              <a:pathLst>
                <a:path w="1238884" h="3810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323849"/>
                  </a:lnTo>
                  <a:lnTo>
                    <a:pt x="1233908" y="346095"/>
                  </a:lnTo>
                  <a:lnTo>
                    <a:pt x="1221661" y="364261"/>
                  </a:lnTo>
                  <a:lnTo>
                    <a:pt x="1203495" y="376508"/>
                  </a:lnTo>
                  <a:lnTo>
                    <a:pt x="1181249" y="380999"/>
                  </a:ln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431747" y="4394961"/>
            <a:ext cx="123317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sz="8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System</a:t>
            </a:r>
            <a:r>
              <a:rPr spc="-55" dirty="0"/>
              <a:t> </a:t>
            </a:r>
            <a:r>
              <a:rPr spc="-10" dirty="0"/>
              <a:t>Architecture</a:t>
            </a:r>
            <a:r>
              <a:rPr spc="-50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dirty="0"/>
              <a:t>ETL</a:t>
            </a:r>
            <a:r>
              <a:rPr spc="-50" dirty="0"/>
              <a:t> </a:t>
            </a:r>
            <a:r>
              <a:rPr spc="-10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10"/>
            <a:ext cx="2681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Star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Schema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design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with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Pandas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+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SQLAlchemy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409" y="935481"/>
            <a:ext cx="8425815" cy="40005"/>
            <a:chOff x="359409" y="935481"/>
            <a:chExt cx="8425815" cy="40005"/>
          </a:xfrm>
        </p:grpSpPr>
        <p:sp>
          <p:nvSpPr>
            <p:cNvPr id="5" name="object 5"/>
            <p:cNvSpPr/>
            <p:nvPr/>
          </p:nvSpPr>
          <p:spPr>
            <a:xfrm>
              <a:off x="365759" y="941831"/>
              <a:ext cx="8413115" cy="27305"/>
            </a:xfrm>
            <a:custGeom>
              <a:avLst/>
              <a:gdLst/>
              <a:ahLst/>
              <a:cxnLst/>
              <a:rect l="l" t="t" r="r" b="b"/>
              <a:pathLst>
                <a:path w="8413115" h="27305">
                  <a:moveTo>
                    <a:pt x="8412599" y="27299"/>
                  </a:moveTo>
                  <a:lnTo>
                    <a:pt x="0" y="27299"/>
                  </a:lnTo>
                  <a:lnTo>
                    <a:pt x="0" y="0"/>
                  </a:lnTo>
                  <a:lnTo>
                    <a:pt x="8412599" y="0"/>
                  </a:lnTo>
                  <a:lnTo>
                    <a:pt x="8412599" y="272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941831"/>
              <a:ext cx="8413115" cy="27305"/>
            </a:xfrm>
            <a:custGeom>
              <a:avLst/>
              <a:gdLst/>
              <a:ahLst/>
              <a:cxnLst/>
              <a:rect l="l" t="t" r="r" b="b"/>
              <a:pathLst>
                <a:path w="8413115" h="27305">
                  <a:moveTo>
                    <a:pt x="0" y="0"/>
                  </a:moveTo>
                  <a:lnTo>
                    <a:pt x="8412599" y="0"/>
                  </a:lnTo>
                  <a:lnTo>
                    <a:pt x="8412599" y="27299"/>
                  </a:lnTo>
                  <a:lnTo>
                    <a:pt x="0" y="272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76237" y="1138237"/>
            <a:ext cx="3438525" cy="3629025"/>
            <a:chOff x="376237" y="1138237"/>
            <a:chExt cx="3438525" cy="3629025"/>
          </a:xfrm>
        </p:grpSpPr>
        <p:sp>
          <p:nvSpPr>
            <p:cNvPr id="8" name="object 8"/>
            <p:cNvSpPr/>
            <p:nvPr/>
          </p:nvSpPr>
          <p:spPr>
            <a:xfrm>
              <a:off x="381000" y="1143000"/>
              <a:ext cx="3429000" cy="3619500"/>
            </a:xfrm>
            <a:custGeom>
              <a:avLst/>
              <a:gdLst/>
              <a:ahLst/>
              <a:cxnLst/>
              <a:rect l="l" t="t" r="r" b="b"/>
              <a:pathLst>
                <a:path w="3429000" h="3619500">
                  <a:moveTo>
                    <a:pt x="3314711" y="3619499"/>
                  </a:moveTo>
                  <a:lnTo>
                    <a:pt x="114288" y="3619499"/>
                  </a:lnTo>
                  <a:lnTo>
                    <a:pt x="69802" y="3610518"/>
                  </a:lnTo>
                  <a:lnTo>
                    <a:pt x="33474" y="3586025"/>
                  </a:lnTo>
                  <a:lnTo>
                    <a:pt x="8981" y="3549697"/>
                  </a:lnTo>
                  <a:lnTo>
                    <a:pt x="0" y="35052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314711" y="0"/>
                  </a:lnTo>
                  <a:lnTo>
                    <a:pt x="3358447" y="8699"/>
                  </a:lnTo>
                  <a:lnTo>
                    <a:pt x="3395525" y="33474"/>
                  </a:lnTo>
                  <a:lnTo>
                    <a:pt x="3420300" y="70552"/>
                  </a:lnTo>
                  <a:lnTo>
                    <a:pt x="3428999" y="114288"/>
                  </a:lnTo>
                  <a:lnTo>
                    <a:pt x="3428999" y="3505211"/>
                  </a:lnTo>
                  <a:lnTo>
                    <a:pt x="3420018" y="3549697"/>
                  </a:lnTo>
                  <a:lnTo>
                    <a:pt x="3395525" y="3586025"/>
                  </a:lnTo>
                  <a:lnTo>
                    <a:pt x="3359197" y="3610518"/>
                  </a:lnTo>
                  <a:lnTo>
                    <a:pt x="3314711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1000" y="1143000"/>
              <a:ext cx="3429000" cy="3619500"/>
            </a:xfrm>
            <a:custGeom>
              <a:avLst/>
              <a:gdLst/>
              <a:ahLst/>
              <a:cxnLst/>
              <a:rect l="l" t="t" r="r" b="b"/>
              <a:pathLst>
                <a:path w="3429000" h="3619500">
                  <a:moveTo>
                    <a:pt x="0" y="114288"/>
                  </a:move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314711" y="0"/>
                  </a:lnTo>
                  <a:lnTo>
                    <a:pt x="3358447" y="8699"/>
                  </a:lnTo>
                  <a:lnTo>
                    <a:pt x="3395525" y="33474"/>
                  </a:lnTo>
                  <a:lnTo>
                    <a:pt x="3420300" y="70552"/>
                  </a:lnTo>
                  <a:lnTo>
                    <a:pt x="3428999" y="114288"/>
                  </a:lnTo>
                  <a:lnTo>
                    <a:pt x="3428999" y="3505211"/>
                  </a:lnTo>
                  <a:lnTo>
                    <a:pt x="3420018" y="3549697"/>
                  </a:lnTo>
                  <a:lnTo>
                    <a:pt x="3395525" y="3586025"/>
                  </a:lnTo>
                  <a:lnTo>
                    <a:pt x="3359197" y="3610518"/>
                  </a:lnTo>
                  <a:lnTo>
                    <a:pt x="3314711" y="3619499"/>
                  </a:lnTo>
                  <a:lnTo>
                    <a:pt x="114288" y="3619499"/>
                  </a:lnTo>
                  <a:lnTo>
                    <a:pt x="69802" y="3610518"/>
                  </a:lnTo>
                  <a:lnTo>
                    <a:pt x="33474" y="3586025"/>
                  </a:lnTo>
                  <a:lnTo>
                    <a:pt x="8981" y="3549697"/>
                  </a:lnTo>
                  <a:lnTo>
                    <a:pt x="0" y="3505211"/>
                  </a:lnTo>
                  <a:lnTo>
                    <a:pt x="0" y="114288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8800" y="1397508"/>
            <a:ext cx="9639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D4AA"/>
                </a:solidFill>
                <a:latin typeface="Calibri"/>
                <a:cs typeface="Calibri"/>
              </a:rPr>
              <a:t>ETL</a:t>
            </a:r>
            <a:r>
              <a:rPr sz="14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D4AA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800" y="1791461"/>
            <a:ext cx="27882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EXTRACT:</a:t>
            </a:r>
            <a:r>
              <a:rPr sz="11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Raw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AMFI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CSV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+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REST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JSON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via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Python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requests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2269617"/>
            <a:ext cx="30537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TRANSFORM:</a:t>
            </a:r>
            <a:r>
              <a:rPr sz="1100" b="1" spc="-3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Pandas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pipelines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data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cleaning,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type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casting,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feature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engineering</a:t>
            </a:r>
            <a:r>
              <a:rPr sz="110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(returns,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CAGR,</a:t>
            </a:r>
            <a:r>
              <a:rPr sz="1100" spc="-3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ratios)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8800" y="2747772"/>
            <a:ext cx="295719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LOAD:</a:t>
            </a:r>
            <a:r>
              <a:rPr sz="1100" b="1" spc="-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SQLAlchemy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 ORM</a:t>
            </a:r>
            <a:r>
              <a:rPr sz="1100" spc="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sz="1100" spc="-45" dirty="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PostgreSQL/SQLite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Star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Schema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(Fact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+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Dim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tables)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800" y="3225926"/>
            <a:ext cx="2792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SERVE:</a:t>
            </a:r>
            <a:r>
              <a:rPr sz="1100" b="1" spc="-1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Power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BI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DirectQuery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Python</a:t>
            </a:r>
            <a:r>
              <a:rPr sz="11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notebook </a:t>
            </a:r>
            <a:r>
              <a:rPr sz="1100" dirty="0">
                <a:solidFill>
                  <a:srgbClr val="E1E7F0"/>
                </a:solidFill>
                <a:latin typeface="Calibri"/>
                <a:cs typeface="Calibri"/>
              </a:rPr>
              <a:t>analytics</a:t>
            </a:r>
            <a:r>
              <a:rPr sz="11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1E7F0"/>
                </a:solidFill>
                <a:latin typeface="Calibri"/>
                <a:cs typeface="Calibri"/>
              </a:rPr>
              <a:t>layer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95737" y="1138237"/>
            <a:ext cx="4772025" cy="3629025"/>
            <a:chOff x="3995737" y="1138237"/>
            <a:chExt cx="4772025" cy="3629025"/>
          </a:xfrm>
        </p:grpSpPr>
        <p:sp>
          <p:nvSpPr>
            <p:cNvPr id="16" name="object 16"/>
            <p:cNvSpPr/>
            <p:nvPr/>
          </p:nvSpPr>
          <p:spPr>
            <a:xfrm>
              <a:off x="4000500" y="1143000"/>
              <a:ext cx="4762500" cy="3619500"/>
            </a:xfrm>
            <a:custGeom>
              <a:avLst/>
              <a:gdLst/>
              <a:ahLst/>
              <a:cxnLst/>
              <a:rect l="l" t="t" r="r" b="b"/>
              <a:pathLst>
                <a:path w="4762500" h="3619500">
                  <a:moveTo>
                    <a:pt x="4648231" y="3619499"/>
                  </a:moveTo>
                  <a:lnTo>
                    <a:pt x="114267" y="3619499"/>
                  </a:lnTo>
                  <a:lnTo>
                    <a:pt x="69789" y="3610520"/>
                  </a:lnTo>
                  <a:lnTo>
                    <a:pt x="33468" y="3586031"/>
                  </a:lnTo>
                  <a:lnTo>
                    <a:pt x="8979" y="3549710"/>
                  </a:lnTo>
                  <a:lnTo>
                    <a:pt x="0" y="3505232"/>
                  </a:lnTo>
                  <a:lnTo>
                    <a:pt x="0" y="114267"/>
                  </a:lnTo>
                  <a:lnTo>
                    <a:pt x="8979" y="69789"/>
                  </a:lnTo>
                  <a:lnTo>
                    <a:pt x="33468" y="33468"/>
                  </a:lnTo>
                  <a:lnTo>
                    <a:pt x="69789" y="8979"/>
                  </a:lnTo>
                  <a:lnTo>
                    <a:pt x="114267" y="0"/>
                  </a:lnTo>
                  <a:lnTo>
                    <a:pt x="4648231" y="0"/>
                  </a:lnTo>
                  <a:lnTo>
                    <a:pt x="4691960" y="8698"/>
                  </a:lnTo>
                  <a:lnTo>
                    <a:pt x="4729031" y="33468"/>
                  </a:lnTo>
                  <a:lnTo>
                    <a:pt x="4753801" y="70539"/>
                  </a:lnTo>
                  <a:lnTo>
                    <a:pt x="4762499" y="114267"/>
                  </a:lnTo>
                  <a:lnTo>
                    <a:pt x="4762499" y="3505232"/>
                  </a:lnTo>
                  <a:lnTo>
                    <a:pt x="4753520" y="3549710"/>
                  </a:lnTo>
                  <a:lnTo>
                    <a:pt x="4729031" y="3586031"/>
                  </a:lnTo>
                  <a:lnTo>
                    <a:pt x="4692710" y="3610520"/>
                  </a:lnTo>
                  <a:lnTo>
                    <a:pt x="4648231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00500" y="1143000"/>
              <a:ext cx="4762500" cy="3619500"/>
            </a:xfrm>
            <a:custGeom>
              <a:avLst/>
              <a:gdLst/>
              <a:ahLst/>
              <a:cxnLst/>
              <a:rect l="l" t="t" r="r" b="b"/>
              <a:pathLst>
                <a:path w="4762500" h="3619500">
                  <a:moveTo>
                    <a:pt x="0" y="114267"/>
                  </a:moveTo>
                  <a:lnTo>
                    <a:pt x="8979" y="69789"/>
                  </a:lnTo>
                  <a:lnTo>
                    <a:pt x="33468" y="33468"/>
                  </a:lnTo>
                  <a:lnTo>
                    <a:pt x="69789" y="8979"/>
                  </a:lnTo>
                  <a:lnTo>
                    <a:pt x="114267" y="0"/>
                  </a:lnTo>
                  <a:lnTo>
                    <a:pt x="4648231" y="0"/>
                  </a:lnTo>
                  <a:lnTo>
                    <a:pt x="4691960" y="8698"/>
                  </a:lnTo>
                  <a:lnTo>
                    <a:pt x="4729031" y="33468"/>
                  </a:lnTo>
                  <a:lnTo>
                    <a:pt x="4753801" y="70539"/>
                  </a:lnTo>
                  <a:lnTo>
                    <a:pt x="4762499" y="114267"/>
                  </a:lnTo>
                  <a:lnTo>
                    <a:pt x="4762499" y="3505232"/>
                  </a:lnTo>
                  <a:lnTo>
                    <a:pt x="4753520" y="3549710"/>
                  </a:lnTo>
                  <a:lnTo>
                    <a:pt x="4729031" y="3586031"/>
                  </a:lnTo>
                  <a:lnTo>
                    <a:pt x="4692710" y="3610520"/>
                  </a:lnTo>
                  <a:lnTo>
                    <a:pt x="4648231" y="3619499"/>
                  </a:lnTo>
                  <a:lnTo>
                    <a:pt x="114267" y="3619499"/>
                  </a:lnTo>
                  <a:lnTo>
                    <a:pt x="69789" y="3610520"/>
                  </a:lnTo>
                  <a:lnTo>
                    <a:pt x="33468" y="3586031"/>
                  </a:lnTo>
                  <a:lnTo>
                    <a:pt x="8979" y="3549710"/>
                  </a:lnTo>
                  <a:lnTo>
                    <a:pt x="0" y="3505232"/>
                  </a:lnTo>
                  <a:lnTo>
                    <a:pt x="0" y="114267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78300" y="1397508"/>
            <a:ext cx="18688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0" dirty="0">
                <a:solidFill>
                  <a:srgbClr val="00A8FF"/>
                </a:solidFill>
                <a:latin typeface="Calibri"/>
                <a:cs typeface="Calibri"/>
              </a:rPr>
              <a:t>DATABASE </a:t>
            </a:r>
            <a:r>
              <a:rPr sz="1400" b="1" spc="-25" dirty="0">
                <a:solidFill>
                  <a:srgbClr val="00A8FF"/>
                </a:solidFill>
                <a:latin typeface="Calibri"/>
                <a:cs typeface="Calibri"/>
              </a:rPr>
              <a:t>STAR</a:t>
            </a:r>
            <a:r>
              <a:rPr sz="1400" b="1" spc="-45" dirty="0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A8FF"/>
                </a:solidFill>
                <a:latin typeface="Calibri"/>
                <a:cs typeface="Calibri"/>
              </a:rPr>
              <a:t>SCHEMA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34000" y="247650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2019299" y="952499"/>
                </a:moveTo>
                <a:lnTo>
                  <a:pt x="76199" y="952499"/>
                </a:lnTo>
                <a:lnTo>
                  <a:pt x="46539" y="946511"/>
                </a:lnTo>
                <a:lnTo>
                  <a:pt x="22318" y="930181"/>
                </a:lnTo>
                <a:lnTo>
                  <a:pt x="5988" y="905960"/>
                </a:lnTo>
                <a:lnTo>
                  <a:pt x="0" y="876299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2019299" y="0"/>
                </a:lnTo>
                <a:lnTo>
                  <a:pt x="2061575" y="12802"/>
                </a:lnTo>
                <a:lnTo>
                  <a:pt x="2089699" y="47039"/>
                </a:lnTo>
                <a:lnTo>
                  <a:pt x="2095499" y="76199"/>
                </a:lnTo>
                <a:lnTo>
                  <a:pt x="2095499" y="876299"/>
                </a:lnTo>
                <a:lnTo>
                  <a:pt x="2089511" y="905960"/>
                </a:lnTo>
                <a:lnTo>
                  <a:pt x="2073181" y="930181"/>
                </a:lnTo>
                <a:lnTo>
                  <a:pt x="2048960" y="946511"/>
                </a:lnTo>
                <a:lnTo>
                  <a:pt x="2019299" y="952499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89436" y="2721610"/>
            <a:ext cx="1183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 marR="5080" indent="-26670" algn="just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0A0F1E"/>
                </a:solidFill>
                <a:latin typeface="Calibri"/>
                <a:cs typeface="Calibri"/>
              </a:rPr>
              <a:t>fact_nav_transactions </a:t>
            </a:r>
            <a:r>
              <a:rPr sz="900" spc="-30" dirty="0">
                <a:solidFill>
                  <a:srgbClr val="0A0F1E"/>
                </a:solidFill>
                <a:latin typeface="Calibri"/>
                <a:cs typeface="Calibri"/>
              </a:rPr>
              <a:t>(NAV,</a:t>
            </a:r>
            <a:r>
              <a:rPr sz="900" spc="-5" dirty="0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A0F1E"/>
                </a:solidFill>
                <a:latin typeface="Calibri"/>
                <a:cs typeface="Calibri"/>
              </a:rPr>
              <a:t>SIP</a:t>
            </a:r>
            <a:r>
              <a:rPr sz="900" spc="-5" dirty="0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A0F1E"/>
                </a:solidFill>
                <a:latin typeface="Calibri"/>
                <a:cs typeface="Calibri"/>
              </a:rPr>
              <a:t>amount,</a:t>
            </a:r>
            <a:r>
              <a:rPr sz="900" spc="-5" dirty="0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0A0F1E"/>
                </a:solidFill>
                <a:latin typeface="Calibri"/>
                <a:cs typeface="Calibri"/>
              </a:rPr>
              <a:t>date,</a:t>
            </a:r>
            <a:r>
              <a:rPr sz="900" spc="500" dirty="0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A0F1E"/>
                </a:solidFill>
                <a:latin typeface="Calibri"/>
                <a:cs typeface="Calibri"/>
              </a:rPr>
              <a:t>scheme_id,</a:t>
            </a:r>
            <a:r>
              <a:rPr sz="900" spc="5" dirty="0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A0F1E"/>
                </a:solidFill>
                <a:latin typeface="Calibri"/>
                <a:cs typeface="Calibri"/>
              </a:rPr>
              <a:t>investor_id)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81487" y="1852612"/>
            <a:ext cx="1248410" cy="581025"/>
            <a:chOff x="4281487" y="1852612"/>
            <a:chExt cx="1248410" cy="581025"/>
          </a:xfrm>
        </p:grpSpPr>
        <p:sp>
          <p:nvSpPr>
            <p:cNvPr id="22" name="object 22"/>
            <p:cNvSpPr/>
            <p:nvPr/>
          </p:nvSpPr>
          <p:spPr>
            <a:xfrm>
              <a:off x="4286250" y="1857375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5" h="571500">
                  <a:moveTo>
                    <a:pt x="1181249" y="571499"/>
                  </a:move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1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86250" y="1857375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5" h="5715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1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A8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608536" y="2061337"/>
            <a:ext cx="5937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E1E7F0"/>
                </a:solidFill>
                <a:latin typeface="Calibri"/>
                <a:cs typeface="Calibri"/>
              </a:rPr>
              <a:t>dim_scheme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514975" y="1852612"/>
            <a:ext cx="2967355" cy="724535"/>
            <a:chOff x="5514975" y="1852612"/>
            <a:chExt cx="2967355" cy="72453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4975" y="2138362"/>
              <a:ext cx="304799" cy="4382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238999" y="1857375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4" h="571500">
                  <a:moveTo>
                    <a:pt x="1181249" y="571499"/>
                  </a:move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38999" y="1857375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4" h="5715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A8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551646" y="2061337"/>
            <a:ext cx="6127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E1E7F0"/>
                </a:solidFill>
                <a:latin typeface="Calibri"/>
                <a:cs typeface="Calibri"/>
              </a:rPr>
              <a:t>dim_investor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281487" y="2138362"/>
            <a:ext cx="2967355" cy="1914525"/>
            <a:chOff x="4281487" y="2138362"/>
            <a:chExt cx="2967355" cy="191452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3725" y="2138362"/>
              <a:ext cx="304799" cy="4382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286250" y="3476624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5" h="571500">
                  <a:moveTo>
                    <a:pt x="1181249" y="571499"/>
                  </a:move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1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86250" y="3476624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5" h="5715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1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A8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679505" y="3680586"/>
            <a:ext cx="4521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E1E7F0"/>
                </a:solidFill>
                <a:latin typeface="Calibri"/>
                <a:cs typeface="Calibri"/>
              </a:rPr>
              <a:t>dim_date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514975" y="3328987"/>
            <a:ext cx="2967355" cy="723900"/>
            <a:chOff x="5514975" y="3328987"/>
            <a:chExt cx="2967355" cy="723900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4975" y="3328987"/>
              <a:ext cx="304799" cy="4382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238999" y="3476624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4" h="571500">
                  <a:moveTo>
                    <a:pt x="1181249" y="571499"/>
                  </a:move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238999" y="3476624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4" h="5715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A8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466162" y="3680586"/>
            <a:ext cx="7842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E1E7F0"/>
                </a:solidFill>
                <a:latin typeface="Calibri"/>
                <a:cs typeface="Calibri"/>
              </a:rPr>
              <a:t>dim_fund_house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3725" y="3328987"/>
            <a:ext cx="304799" cy="43829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560400" y="3776338"/>
            <a:ext cx="25019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49E0B"/>
                </a:solidFill>
                <a:latin typeface="Calibri"/>
                <a:cs typeface="Calibri"/>
              </a:rPr>
              <a:t>TECH</a:t>
            </a:r>
            <a:r>
              <a:rPr sz="900" b="1" spc="-40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49E0B"/>
                </a:solidFill>
                <a:latin typeface="Calibri"/>
                <a:cs typeface="Calibri"/>
              </a:rPr>
              <a:t>STACK:</a:t>
            </a:r>
            <a:endParaRPr sz="900">
              <a:latin typeface="Calibri"/>
              <a:cs typeface="Calibri"/>
            </a:endParaRPr>
          </a:p>
          <a:p>
            <a:pPr marL="38100" marR="5080">
              <a:lnSpc>
                <a:spcPct val="100000"/>
              </a:lnSpc>
            </a:pP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Python</a:t>
            </a:r>
            <a:r>
              <a:rPr sz="9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3.11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pandas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2.x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 SQLAlchemy </a:t>
            </a: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 PostgreSQL </a:t>
            </a:r>
            <a:r>
              <a:rPr sz="900" spc="-5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900" spc="50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Power</a:t>
            </a:r>
            <a:r>
              <a:rPr sz="90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BI · </a:t>
            </a:r>
            <a:r>
              <a:rPr sz="900" spc="-10" dirty="0">
                <a:solidFill>
                  <a:srgbClr val="94A3B8"/>
                </a:solidFill>
                <a:latin typeface="Calibri"/>
                <a:cs typeface="Calibri"/>
              </a:rPr>
              <a:t>Matplotlib</a:t>
            </a:r>
            <a:r>
              <a:rPr sz="900" dirty="0">
                <a:solidFill>
                  <a:srgbClr val="94A3B8"/>
                </a:solidFill>
                <a:latin typeface="Calibri"/>
                <a:cs typeface="Calibri"/>
              </a:rPr>
              <a:t> · </a:t>
            </a:r>
            <a:r>
              <a:rPr sz="900" spc="-25" dirty="0">
                <a:solidFill>
                  <a:srgbClr val="94A3B8"/>
                </a:solidFill>
                <a:latin typeface="Calibri"/>
                <a:cs typeface="Calibri"/>
              </a:rPr>
              <a:t>Git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EDA</a:t>
            </a:r>
            <a:r>
              <a:rPr spc="-95" dirty="0"/>
              <a:t> </a:t>
            </a:r>
            <a:r>
              <a:rPr dirty="0"/>
              <a:t>Highlights:</a:t>
            </a:r>
            <a:r>
              <a:rPr spc="-90" dirty="0"/>
              <a:t> </a:t>
            </a:r>
            <a:r>
              <a:rPr dirty="0"/>
              <a:t>Industry</a:t>
            </a:r>
            <a:r>
              <a:rPr spc="-90" dirty="0"/>
              <a:t> </a:t>
            </a:r>
            <a:r>
              <a:rPr spc="-10" dirty="0"/>
              <a:t>Trends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44799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AUM</a:t>
            </a:r>
            <a:r>
              <a:rPr sz="1100" spc="-4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growth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Microsoft Sans Serif"/>
                <a:cs typeface="Microsoft Sans Serif"/>
              </a:rPr>
              <a:t>₹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81L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Cr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peak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Monthly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sz="110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at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Microsoft Sans Serif"/>
                <a:cs typeface="Microsoft Sans Serif"/>
              </a:rPr>
              <a:t>₹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31K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Cr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31.46%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avg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YoY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growth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1072515"/>
            <a:chOff x="240618" y="935481"/>
            <a:chExt cx="8544560" cy="1072515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72138"/>
              <a:ext cx="2224405" cy="103568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0040" y="1051560"/>
            <a:ext cx="2011680" cy="82296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556895">
              <a:lnSpc>
                <a:spcPct val="100000"/>
              </a:lnSpc>
              <a:spcBef>
                <a:spcPts val="805"/>
              </a:spcBef>
            </a:pPr>
            <a:r>
              <a:rPr sz="2000" b="1" dirty="0">
                <a:solidFill>
                  <a:srgbClr val="00D4AA"/>
                </a:solidFill>
                <a:latin typeface="Times New Roman"/>
                <a:cs typeface="Times New Roman"/>
              </a:rPr>
              <a:t>₹</a:t>
            </a:r>
            <a:r>
              <a:rPr sz="2000" b="1" dirty="0">
                <a:solidFill>
                  <a:srgbClr val="00D4AA"/>
                </a:solidFill>
                <a:latin typeface="Cambria"/>
                <a:cs typeface="Cambria"/>
              </a:rPr>
              <a:t>391</a:t>
            </a:r>
            <a:r>
              <a:rPr sz="2000" b="1" spc="-60" dirty="0">
                <a:solidFill>
                  <a:srgbClr val="00D4AA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00D4AA"/>
                </a:solidFill>
                <a:latin typeface="Cambria"/>
                <a:cs typeface="Cambria"/>
              </a:rPr>
              <a:t>Cr</a:t>
            </a:r>
            <a:endParaRPr sz="2000">
              <a:latin typeface="Cambria"/>
              <a:cs typeface="Cambria"/>
            </a:endParaRPr>
          </a:p>
          <a:p>
            <a:pPr marL="564515">
              <a:lnSpc>
                <a:spcPct val="100000"/>
              </a:lnSpc>
              <a:spcBef>
                <a:spcPts val="1145"/>
              </a:spcBef>
            </a:pPr>
            <a:r>
              <a:rPr sz="850" spc="-25" dirty="0">
                <a:solidFill>
                  <a:srgbClr val="94A3B8"/>
                </a:solidFill>
                <a:latin typeface="Calibri"/>
                <a:cs typeface="Calibri"/>
              </a:rPr>
              <a:t>Total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AUM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(Dataset)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6890" y="972138"/>
            <a:ext cx="2224405" cy="103568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96311" y="1051560"/>
            <a:ext cx="2011680" cy="82296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805"/>
              </a:spcBef>
            </a:pPr>
            <a:r>
              <a:rPr sz="2000" b="1" spc="-10" dirty="0">
                <a:solidFill>
                  <a:srgbClr val="00D4AA"/>
                </a:solidFill>
                <a:latin typeface="Times New Roman"/>
                <a:cs typeface="Times New Roman"/>
              </a:rPr>
              <a:t>₹</a:t>
            </a:r>
            <a:r>
              <a:rPr sz="2000" b="1" spc="-10" dirty="0">
                <a:solidFill>
                  <a:srgbClr val="00D4AA"/>
                </a:solidFill>
                <a:latin typeface="Cambria"/>
                <a:cs typeface="Cambria"/>
              </a:rPr>
              <a:t>940K</a:t>
            </a:r>
            <a:endParaRPr sz="2000">
              <a:latin typeface="Cambria"/>
              <a:cs typeface="Cambria"/>
            </a:endParaRPr>
          </a:p>
          <a:p>
            <a:pPr marL="651510">
              <a:lnSpc>
                <a:spcPct val="100000"/>
              </a:lnSpc>
              <a:spcBef>
                <a:spcPts val="1145"/>
              </a:spcBef>
            </a:pPr>
            <a:r>
              <a:rPr sz="850" spc="-25" dirty="0">
                <a:solidFill>
                  <a:srgbClr val="94A3B8"/>
                </a:solidFill>
                <a:latin typeface="Calibri"/>
                <a:cs typeface="Calibri"/>
              </a:rPr>
              <a:t>Total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Inflows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3162" y="972138"/>
            <a:ext cx="2224405" cy="103568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672584" y="1051560"/>
            <a:ext cx="2011680" cy="82296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2000" b="1" spc="-10" dirty="0">
                <a:solidFill>
                  <a:srgbClr val="00D4AA"/>
                </a:solidFill>
                <a:latin typeface="Cambria"/>
                <a:cs typeface="Cambria"/>
              </a:rPr>
              <a:t>31.46%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</a:pP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Avg</a:t>
            </a:r>
            <a:r>
              <a:rPr sz="850" spc="-4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YoY</a:t>
            </a:r>
            <a:r>
              <a:rPr sz="85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Growth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9434" y="972138"/>
            <a:ext cx="2224405" cy="103568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48856" y="1051560"/>
            <a:ext cx="2011680" cy="82296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2000" b="1" spc="-10" dirty="0">
                <a:solidFill>
                  <a:srgbClr val="00D4AA"/>
                </a:solidFill>
                <a:latin typeface="Times New Roman"/>
                <a:cs typeface="Times New Roman"/>
              </a:rPr>
              <a:t>₹</a:t>
            </a:r>
            <a:r>
              <a:rPr sz="2000" b="1" spc="-10" dirty="0">
                <a:solidFill>
                  <a:srgbClr val="00D4AA"/>
                </a:solidFill>
                <a:latin typeface="Cambria"/>
                <a:cs typeface="Cambria"/>
              </a:rPr>
              <a:t>13.97M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</a:pP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sz="85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All-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Time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High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0618" y="1913969"/>
            <a:ext cx="4647565" cy="3047365"/>
            <a:chOff x="240618" y="1913969"/>
            <a:chExt cx="4647565" cy="304736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618" y="1913969"/>
              <a:ext cx="4647565" cy="304736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0039" y="1993391"/>
              <a:ext cx="4434840" cy="2834640"/>
            </a:xfrm>
            <a:custGeom>
              <a:avLst/>
              <a:gdLst/>
              <a:ahLst/>
              <a:cxnLst/>
              <a:rect l="l" t="t" r="r" b="b"/>
              <a:pathLst>
                <a:path w="4434840" h="2834640">
                  <a:moveTo>
                    <a:pt x="4434839" y="2834639"/>
                  </a:moveTo>
                  <a:lnTo>
                    <a:pt x="0" y="2834639"/>
                  </a:lnTo>
                  <a:lnTo>
                    <a:pt x="0" y="0"/>
                  </a:lnTo>
                  <a:lnTo>
                    <a:pt x="4434839" y="0"/>
                  </a:lnTo>
                  <a:lnTo>
                    <a:pt x="4434839" y="28346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39" y="1993391"/>
              <a:ext cx="4434840" cy="2834640"/>
            </a:xfrm>
            <a:custGeom>
              <a:avLst/>
              <a:gdLst/>
              <a:ahLst/>
              <a:cxnLst/>
              <a:rect l="l" t="t" r="r" b="b"/>
              <a:pathLst>
                <a:path w="4434840" h="2834640">
                  <a:moveTo>
                    <a:pt x="0" y="0"/>
                  </a:moveTo>
                  <a:lnTo>
                    <a:pt x="4434839" y="0"/>
                  </a:lnTo>
                  <a:lnTo>
                    <a:pt x="4434839" y="2834639"/>
                  </a:lnTo>
                  <a:lnTo>
                    <a:pt x="0" y="283463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480" y="2057400"/>
              <a:ext cx="4251959" cy="260603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465436" y="4714240"/>
            <a:ext cx="2143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Yearly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AUM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Growth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by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Fund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House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(2022–2025)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04058" y="1913969"/>
            <a:ext cx="4053204" cy="3047365"/>
            <a:chOff x="4904058" y="1913969"/>
            <a:chExt cx="4053204" cy="304736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4058" y="1913969"/>
              <a:ext cx="4053205" cy="30473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83479" y="1993391"/>
              <a:ext cx="3840479" cy="2834640"/>
            </a:xfrm>
            <a:custGeom>
              <a:avLst/>
              <a:gdLst/>
              <a:ahLst/>
              <a:cxnLst/>
              <a:rect l="l" t="t" r="r" b="b"/>
              <a:pathLst>
                <a:path w="3840479" h="2834640">
                  <a:moveTo>
                    <a:pt x="3840479" y="2834639"/>
                  </a:moveTo>
                  <a:lnTo>
                    <a:pt x="0" y="2834639"/>
                  </a:lnTo>
                  <a:lnTo>
                    <a:pt x="0" y="0"/>
                  </a:lnTo>
                  <a:lnTo>
                    <a:pt x="3840479" y="0"/>
                  </a:lnTo>
                  <a:lnTo>
                    <a:pt x="3840479" y="28346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83479" y="1993391"/>
              <a:ext cx="3840479" cy="2834640"/>
            </a:xfrm>
            <a:custGeom>
              <a:avLst/>
              <a:gdLst/>
              <a:ahLst/>
              <a:cxnLst/>
              <a:rect l="l" t="t" r="r" b="b"/>
              <a:pathLst>
                <a:path w="3840479" h="2834640">
                  <a:moveTo>
                    <a:pt x="0" y="0"/>
                  </a:moveTo>
                  <a:lnTo>
                    <a:pt x="3840479" y="0"/>
                  </a:lnTo>
                  <a:lnTo>
                    <a:pt x="3840479" y="2834639"/>
                  </a:lnTo>
                  <a:lnTo>
                    <a:pt x="0" y="283463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4920" y="2057400"/>
              <a:ext cx="3657599" cy="260603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872053" y="4714240"/>
            <a:ext cx="20631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Monthly</a:t>
            </a:r>
            <a:r>
              <a:rPr sz="85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Inflow 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Trend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(Jan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2024</a:t>
            </a:r>
            <a:r>
              <a:rPr sz="85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–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Jul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2025)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8300" y="259815"/>
            <a:ext cx="5735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EDA</a:t>
            </a:r>
            <a:r>
              <a:rPr sz="2800" spc="-114" dirty="0"/>
              <a:t> </a:t>
            </a:r>
            <a:r>
              <a:rPr sz="2800" dirty="0"/>
              <a:t>Highlights:</a:t>
            </a:r>
            <a:r>
              <a:rPr sz="2800" spc="-110" dirty="0"/>
              <a:t> </a:t>
            </a:r>
            <a:r>
              <a:rPr sz="2800" spc="-10" dirty="0"/>
              <a:t>Investor</a:t>
            </a:r>
            <a:r>
              <a:rPr sz="2800" spc="-110" dirty="0"/>
              <a:t> </a:t>
            </a:r>
            <a:r>
              <a:rPr sz="2800" spc="-10" dirty="0"/>
              <a:t>Demographics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368300" y="778991"/>
            <a:ext cx="38227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Age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group</a:t>
            </a:r>
            <a:r>
              <a:rPr sz="110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distribution</a:t>
            </a:r>
            <a:r>
              <a:rPr sz="110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Gender</a:t>
            </a:r>
            <a:r>
              <a:rPr sz="110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split</a:t>
            </a:r>
            <a:r>
              <a:rPr sz="110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Geographic</a:t>
            </a:r>
            <a:r>
              <a:rPr sz="110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sz="110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contributions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6237" y="1095375"/>
            <a:ext cx="8387080" cy="3672204"/>
            <a:chOff x="376237" y="1095375"/>
            <a:chExt cx="8387080" cy="3672204"/>
          </a:xfrm>
        </p:grpSpPr>
        <p:sp>
          <p:nvSpPr>
            <p:cNvPr id="6" name="object 6"/>
            <p:cNvSpPr/>
            <p:nvPr/>
          </p:nvSpPr>
          <p:spPr>
            <a:xfrm>
              <a:off x="381000" y="1095375"/>
              <a:ext cx="8382000" cy="19685"/>
            </a:xfrm>
            <a:custGeom>
              <a:avLst/>
              <a:gdLst/>
              <a:ahLst/>
              <a:cxnLst/>
              <a:rect l="l" t="t" r="r" b="b"/>
              <a:pathLst>
                <a:path w="8382000" h="19684">
                  <a:moveTo>
                    <a:pt x="8381999" y="19199"/>
                  </a:moveTo>
                  <a:lnTo>
                    <a:pt x="0" y="19199"/>
                  </a:lnTo>
                  <a:lnTo>
                    <a:pt x="0" y="0"/>
                  </a:lnTo>
                  <a:lnTo>
                    <a:pt x="8381999" y="0"/>
                  </a:lnTo>
                  <a:lnTo>
                    <a:pt x="8381999" y="191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1285875"/>
              <a:ext cx="3048000" cy="3477260"/>
            </a:xfrm>
            <a:custGeom>
              <a:avLst/>
              <a:gdLst/>
              <a:ahLst/>
              <a:cxnLst/>
              <a:rect l="l" t="t" r="r" b="b"/>
              <a:pathLst>
                <a:path w="3048000" h="3477260">
                  <a:moveTo>
                    <a:pt x="2933699" y="3476699"/>
                  </a:moveTo>
                  <a:lnTo>
                    <a:pt x="114299" y="3476699"/>
                  </a:lnTo>
                  <a:lnTo>
                    <a:pt x="69809" y="3467717"/>
                  </a:lnTo>
                  <a:lnTo>
                    <a:pt x="33477" y="3443222"/>
                  </a:lnTo>
                  <a:lnTo>
                    <a:pt x="8982" y="3406890"/>
                  </a:lnTo>
                  <a:lnTo>
                    <a:pt x="0" y="33623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933699" y="0"/>
                  </a:lnTo>
                  <a:lnTo>
                    <a:pt x="2977440" y="8700"/>
                  </a:lnTo>
                  <a:lnTo>
                    <a:pt x="3014522" y="33477"/>
                  </a:lnTo>
                  <a:lnTo>
                    <a:pt x="3039299" y="70559"/>
                  </a:lnTo>
                  <a:lnTo>
                    <a:pt x="3047999" y="114299"/>
                  </a:lnTo>
                  <a:lnTo>
                    <a:pt x="3047999" y="3362399"/>
                  </a:lnTo>
                  <a:lnTo>
                    <a:pt x="3039017" y="3406890"/>
                  </a:lnTo>
                  <a:lnTo>
                    <a:pt x="3014522" y="3443222"/>
                  </a:lnTo>
                  <a:lnTo>
                    <a:pt x="2978190" y="3467717"/>
                  </a:lnTo>
                  <a:lnTo>
                    <a:pt x="2933699" y="34766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000" y="1285875"/>
              <a:ext cx="3048000" cy="3477260"/>
            </a:xfrm>
            <a:custGeom>
              <a:avLst/>
              <a:gdLst/>
              <a:ahLst/>
              <a:cxnLst/>
              <a:rect l="l" t="t" r="r" b="b"/>
              <a:pathLst>
                <a:path w="3048000" h="347726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933699" y="0"/>
                  </a:lnTo>
                  <a:lnTo>
                    <a:pt x="2977440" y="8700"/>
                  </a:lnTo>
                  <a:lnTo>
                    <a:pt x="3014522" y="33477"/>
                  </a:lnTo>
                  <a:lnTo>
                    <a:pt x="3039299" y="70559"/>
                  </a:lnTo>
                  <a:lnTo>
                    <a:pt x="3047999" y="114299"/>
                  </a:lnTo>
                  <a:lnTo>
                    <a:pt x="3047999" y="3362399"/>
                  </a:lnTo>
                  <a:lnTo>
                    <a:pt x="3039017" y="3406890"/>
                  </a:lnTo>
                  <a:lnTo>
                    <a:pt x="3014522" y="3443222"/>
                  </a:lnTo>
                  <a:lnTo>
                    <a:pt x="2978190" y="3467717"/>
                  </a:lnTo>
                  <a:lnTo>
                    <a:pt x="2933699" y="3476699"/>
                  </a:lnTo>
                  <a:lnTo>
                    <a:pt x="114299" y="3476699"/>
                  </a:lnTo>
                  <a:lnTo>
                    <a:pt x="69809" y="3467717"/>
                  </a:lnTo>
                  <a:lnTo>
                    <a:pt x="33477" y="3443222"/>
                  </a:lnTo>
                  <a:lnTo>
                    <a:pt x="8982" y="3406890"/>
                  </a:lnTo>
                  <a:lnTo>
                    <a:pt x="0" y="33623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644" y="1530045"/>
              <a:ext cx="152400" cy="2222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87425" y="1516533"/>
            <a:ext cx="1034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D4AA"/>
                </a:solidFill>
                <a:latin typeface="Calibri"/>
                <a:cs typeface="Calibri"/>
              </a:rPr>
              <a:t>KEY</a:t>
            </a:r>
            <a:r>
              <a:rPr sz="1400" b="1" spc="-1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D4AA"/>
                </a:solidFill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800" y="1981454"/>
            <a:ext cx="2411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D4AA"/>
                </a:solidFill>
                <a:latin typeface="Calibri"/>
                <a:cs typeface="Calibri"/>
              </a:rPr>
              <a:t>41.1%</a:t>
            </a:r>
            <a:r>
              <a:rPr sz="1200" b="1" spc="-5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aged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26–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35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largest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cohort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2278633"/>
            <a:ext cx="1525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D4AA"/>
                </a:solidFill>
                <a:latin typeface="Calibri"/>
                <a:cs typeface="Calibri"/>
              </a:rPr>
              <a:t>24.9%</a:t>
            </a:r>
            <a:r>
              <a:rPr sz="1200" b="1" spc="-5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aged 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36–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45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8800" y="2575814"/>
            <a:ext cx="2362200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D4AA"/>
                </a:solidFill>
                <a:latin typeface="Calibri"/>
                <a:cs typeface="Calibri"/>
              </a:rPr>
              <a:t>66.5%</a:t>
            </a:r>
            <a:r>
              <a:rPr sz="1200" b="1" spc="-5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Male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investor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dominance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b="1" spc="-10" dirty="0">
                <a:solidFill>
                  <a:srgbClr val="00D4AA"/>
                </a:solidFill>
                <a:latin typeface="Calibri"/>
                <a:cs typeface="Calibri"/>
              </a:rPr>
              <a:t>33.5%</a:t>
            </a:r>
            <a:r>
              <a:rPr sz="1200" b="1" spc="-5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Female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 growing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segment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800" y="3170682"/>
            <a:ext cx="23272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Karnataka</a:t>
            </a:r>
            <a:r>
              <a:rPr sz="1100" b="1" spc="-4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top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state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by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amount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invested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8800" y="3452622"/>
            <a:ext cx="2261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D4AA"/>
                </a:solidFill>
                <a:latin typeface="Arial"/>
                <a:cs typeface="Arial"/>
              </a:rPr>
              <a:t>₹</a:t>
            </a: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100K+</a:t>
            </a:r>
            <a:r>
              <a:rPr sz="1100" b="1" spc="-4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avg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ticket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size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for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36–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45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age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group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800" y="3734561"/>
            <a:ext cx="20262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51.6%</a:t>
            </a:r>
            <a:r>
              <a:rPr sz="1100" b="1" spc="-2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Lumpsum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transactions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 by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value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14737" y="1281112"/>
            <a:ext cx="5153025" cy="1676400"/>
            <a:chOff x="3614737" y="1281112"/>
            <a:chExt cx="5153025" cy="1676400"/>
          </a:xfrm>
        </p:grpSpPr>
        <p:sp>
          <p:nvSpPr>
            <p:cNvPr id="18" name="object 18"/>
            <p:cNvSpPr/>
            <p:nvPr/>
          </p:nvSpPr>
          <p:spPr>
            <a:xfrm>
              <a:off x="3619500" y="1285875"/>
              <a:ext cx="5143500" cy="1666875"/>
            </a:xfrm>
            <a:custGeom>
              <a:avLst/>
              <a:gdLst/>
              <a:ahLst/>
              <a:cxnLst/>
              <a:rect l="l" t="t" r="r" b="b"/>
              <a:pathLst>
                <a:path w="5143500" h="1666875">
                  <a:moveTo>
                    <a:pt x="5029207" y="1666799"/>
                  </a:moveTo>
                  <a:lnTo>
                    <a:pt x="114292" y="1666799"/>
                  </a:lnTo>
                  <a:lnTo>
                    <a:pt x="69804" y="1657818"/>
                  </a:lnTo>
                  <a:lnTo>
                    <a:pt x="33475" y="1633324"/>
                  </a:lnTo>
                  <a:lnTo>
                    <a:pt x="8981" y="1596995"/>
                  </a:lnTo>
                  <a:lnTo>
                    <a:pt x="0" y="1552507"/>
                  </a:lnTo>
                  <a:lnTo>
                    <a:pt x="0" y="114292"/>
                  </a:ln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2" y="0"/>
                  </a:lnTo>
                  <a:lnTo>
                    <a:pt x="5029207" y="0"/>
                  </a:lnTo>
                  <a:lnTo>
                    <a:pt x="5072945" y="8699"/>
                  </a:lnTo>
                  <a:lnTo>
                    <a:pt x="5110024" y="33475"/>
                  </a:lnTo>
                  <a:lnTo>
                    <a:pt x="5134799" y="70554"/>
                  </a:lnTo>
                  <a:lnTo>
                    <a:pt x="5143499" y="114292"/>
                  </a:lnTo>
                  <a:lnTo>
                    <a:pt x="5143499" y="1552507"/>
                  </a:lnTo>
                  <a:lnTo>
                    <a:pt x="5134518" y="1596995"/>
                  </a:lnTo>
                  <a:lnTo>
                    <a:pt x="5110024" y="1633324"/>
                  </a:lnTo>
                  <a:lnTo>
                    <a:pt x="5073695" y="1657818"/>
                  </a:lnTo>
                  <a:lnTo>
                    <a:pt x="5029207" y="16667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19500" y="1285875"/>
              <a:ext cx="5143500" cy="1666875"/>
            </a:xfrm>
            <a:custGeom>
              <a:avLst/>
              <a:gdLst/>
              <a:ahLst/>
              <a:cxnLst/>
              <a:rect l="l" t="t" r="r" b="b"/>
              <a:pathLst>
                <a:path w="5143500" h="1666875">
                  <a:moveTo>
                    <a:pt x="0" y="114292"/>
                  </a:move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2" y="0"/>
                  </a:lnTo>
                  <a:lnTo>
                    <a:pt x="5029207" y="0"/>
                  </a:lnTo>
                  <a:lnTo>
                    <a:pt x="5072945" y="8699"/>
                  </a:lnTo>
                  <a:lnTo>
                    <a:pt x="5110024" y="33475"/>
                  </a:lnTo>
                  <a:lnTo>
                    <a:pt x="5134799" y="70554"/>
                  </a:lnTo>
                  <a:lnTo>
                    <a:pt x="5143499" y="114292"/>
                  </a:lnTo>
                  <a:lnTo>
                    <a:pt x="5143499" y="1552507"/>
                  </a:lnTo>
                  <a:lnTo>
                    <a:pt x="5134518" y="1596995"/>
                  </a:lnTo>
                  <a:lnTo>
                    <a:pt x="5110024" y="1633324"/>
                  </a:lnTo>
                  <a:lnTo>
                    <a:pt x="5073695" y="1657818"/>
                  </a:lnTo>
                  <a:lnTo>
                    <a:pt x="5029207" y="1666799"/>
                  </a:lnTo>
                  <a:lnTo>
                    <a:pt x="114292" y="1666799"/>
                  </a:lnTo>
                  <a:lnTo>
                    <a:pt x="69804" y="1657818"/>
                  </a:lnTo>
                  <a:lnTo>
                    <a:pt x="33475" y="1633324"/>
                  </a:lnTo>
                  <a:lnTo>
                    <a:pt x="8981" y="1596995"/>
                  </a:lnTo>
                  <a:lnTo>
                    <a:pt x="0" y="1552507"/>
                  </a:lnTo>
                  <a:lnTo>
                    <a:pt x="0" y="114292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97300" y="1410970"/>
            <a:ext cx="14490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94A3B8"/>
                </a:solidFill>
                <a:latin typeface="Calibri"/>
                <a:cs typeface="Calibri"/>
              </a:rPr>
              <a:t>AGE</a:t>
            </a:r>
            <a:r>
              <a:rPr sz="1000" b="1" spc="-4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94A3B8"/>
                </a:solidFill>
                <a:latin typeface="Calibri"/>
                <a:cs typeface="Calibri"/>
              </a:rPr>
              <a:t>GROUP</a:t>
            </a:r>
            <a:r>
              <a:rPr sz="1000" b="1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94A3B8"/>
                </a:solidFill>
                <a:latin typeface="Calibri"/>
                <a:cs typeface="Calibri"/>
              </a:rPr>
              <a:t>DISTRIBUTION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14737" y="1619250"/>
            <a:ext cx="5153025" cy="3148330"/>
            <a:chOff x="3614737" y="1619250"/>
            <a:chExt cx="5153025" cy="314833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0" y="1619250"/>
              <a:ext cx="2190899" cy="1238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19500" y="3095625"/>
              <a:ext cx="5143500" cy="1666875"/>
            </a:xfrm>
            <a:custGeom>
              <a:avLst/>
              <a:gdLst/>
              <a:ahLst/>
              <a:cxnLst/>
              <a:rect l="l" t="t" r="r" b="b"/>
              <a:pathLst>
                <a:path w="5143500" h="1666875">
                  <a:moveTo>
                    <a:pt x="5029207" y="1666799"/>
                  </a:moveTo>
                  <a:lnTo>
                    <a:pt x="114292" y="1666799"/>
                  </a:lnTo>
                  <a:lnTo>
                    <a:pt x="69804" y="1657818"/>
                  </a:lnTo>
                  <a:lnTo>
                    <a:pt x="33475" y="1633324"/>
                  </a:lnTo>
                  <a:lnTo>
                    <a:pt x="8981" y="1596995"/>
                  </a:lnTo>
                  <a:lnTo>
                    <a:pt x="0" y="1552507"/>
                  </a:lnTo>
                  <a:lnTo>
                    <a:pt x="0" y="114292"/>
                  </a:ln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2" y="0"/>
                  </a:lnTo>
                  <a:lnTo>
                    <a:pt x="5029207" y="0"/>
                  </a:lnTo>
                  <a:lnTo>
                    <a:pt x="5072945" y="8699"/>
                  </a:lnTo>
                  <a:lnTo>
                    <a:pt x="5110024" y="33475"/>
                  </a:lnTo>
                  <a:lnTo>
                    <a:pt x="5134799" y="70554"/>
                  </a:lnTo>
                  <a:lnTo>
                    <a:pt x="5143499" y="114292"/>
                  </a:lnTo>
                  <a:lnTo>
                    <a:pt x="5143499" y="1552507"/>
                  </a:lnTo>
                  <a:lnTo>
                    <a:pt x="5134518" y="1596995"/>
                  </a:lnTo>
                  <a:lnTo>
                    <a:pt x="5110024" y="1633324"/>
                  </a:lnTo>
                  <a:lnTo>
                    <a:pt x="5073695" y="1657818"/>
                  </a:lnTo>
                  <a:lnTo>
                    <a:pt x="5029207" y="16667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19500" y="3095625"/>
              <a:ext cx="5143500" cy="1666875"/>
            </a:xfrm>
            <a:custGeom>
              <a:avLst/>
              <a:gdLst/>
              <a:ahLst/>
              <a:cxnLst/>
              <a:rect l="l" t="t" r="r" b="b"/>
              <a:pathLst>
                <a:path w="5143500" h="1666875">
                  <a:moveTo>
                    <a:pt x="0" y="114292"/>
                  </a:move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2" y="0"/>
                  </a:lnTo>
                  <a:lnTo>
                    <a:pt x="5029207" y="0"/>
                  </a:lnTo>
                  <a:lnTo>
                    <a:pt x="5072945" y="8699"/>
                  </a:lnTo>
                  <a:lnTo>
                    <a:pt x="5110024" y="33475"/>
                  </a:lnTo>
                  <a:lnTo>
                    <a:pt x="5134799" y="70554"/>
                  </a:lnTo>
                  <a:lnTo>
                    <a:pt x="5143499" y="114292"/>
                  </a:lnTo>
                  <a:lnTo>
                    <a:pt x="5143499" y="1552507"/>
                  </a:lnTo>
                  <a:lnTo>
                    <a:pt x="5134518" y="1596995"/>
                  </a:lnTo>
                  <a:lnTo>
                    <a:pt x="5110024" y="1633324"/>
                  </a:lnTo>
                  <a:lnTo>
                    <a:pt x="5073695" y="1657818"/>
                  </a:lnTo>
                  <a:lnTo>
                    <a:pt x="5029207" y="1666799"/>
                  </a:lnTo>
                  <a:lnTo>
                    <a:pt x="114292" y="1666799"/>
                  </a:lnTo>
                  <a:lnTo>
                    <a:pt x="69804" y="1657818"/>
                  </a:lnTo>
                  <a:lnTo>
                    <a:pt x="33475" y="1633324"/>
                  </a:lnTo>
                  <a:lnTo>
                    <a:pt x="8981" y="1596995"/>
                  </a:lnTo>
                  <a:lnTo>
                    <a:pt x="0" y="1552507"/>
                  </a:lnTo>
                  <a:lnTo>
                    <a:pt x="0" y="114292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178550" y="1830070"/>
            <a:ext cx="226568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majority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of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investors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(</a:t>
            </a:r>
            <a:r>
              <a:rPr sz="1000" b="1" dirty="0">
                <a:solidFill>
                  <a:srgbClr val="00D4AA"/>
                </a:solidFill>
                <a:latin typeface="Calibri"/>
                <a:cs typeface="Calibri"/>
              </a:rPr>
              <a:t>41.1%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)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fall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within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00D4AA"/>
                </a:solidFill>
                <a:latin typeface="Calibri"/>
                <a:cs typeface="Calibri"/>
              </a:rPr>
              <a:t>26–</a:t>
            </a:r>
            <a:r>
              <a:rPr sz="1000" b="1" dirty="0">
                <a:solidFill>
                  <a:srgbClr val="00D4AA"/>
                </a:solidFill>
                <a:latin typeface="Calibri"/>
                <a:cs typeface="Calibri"/>
              </a:rPr>
              <a:t>35</a:t>
            </a:r>
            <a:r>
              <a:rPr sz="1000" b="1" spc="-1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age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 bracket,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indicating strong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adoption</a:t>
            </a:r>
            <a:r>
              <a:rPr sz="1000" spc="-4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among</a:t>
            </a:r>
            <a:r>
              <a:rPr sz="1000" spc="-4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young</a:t>
            </a:r>
            <a:r>
              <a:rPr sz="1000" spc="-4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professionals.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Secondary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cohort: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36–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45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years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 (</a:t>
            </a:r>
            <a:r>
              <a:rPr sz="1000" b="1" spc="-10" dirty="0">
                <a:solidFill>
                  <a:srgbClr val="00D4AA"/>
                </a:solidFill>
                <a:latin typeface="Calibri"/>
                <a:cs typeface="Calibri"/>
              </a:rPr>
              <a:t>24.9%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97300" y="3220720"/>
            <a:ext cx="1329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94A3B8"/>
                </a:solidFill>
                <a:latin typeface="Calibri"/>
                <a:cs typeface="Calibri"/>
              </a:rPr>
              <a:t>INVESTOR</a:t>
            </a:r>
            <a:r>
              <a:rPr sz="1000" b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94A3B8"/>
                </a:solidFill>
                <a:latin typeface="Calibri"/>
                <a:cs typeface="Calibri"/>
              </a:rPr>
              <a:t>GENDER</a:t>
            </a:r>
            <a:r>
              <a:rPr sz="1000" b="1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94A3B8"/>
                </a:solidFill>
                <a:latin typeface="Calibri"/>
                <a:cs typeface="Calibri"/>
              </a:rPr>
              <a:t>SPLIT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0" y="3429000"/>
            <a:ext cx="2190899" cy="123839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178550" y="3592576"/>
            <a:ext cx="2301875" cy="806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Male</a:t>
            </a:r>
            <a:r>
              <a:rPr sz="900" spc="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investors</a:t>
            </a:r>
            <a:r>
              <a:rPr sz="900" spc="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dominate</a:t>
            </a:r>
            <a:r>
              <a:rPr sz="900" spc="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sz="900" spc="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segment</a:t>
            </a:r>
            <a:r>
              <a:rPr sz="900" spc="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at</a:t>
            </a:r>
            <a:r>
              <a:rPr sz="900" spc="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0D4AA"/>
                </a:solidFill>
                <a:latin typeface="Calibri"/>
                <a:cs typeface="Calibri"/>
              </a:rPr>
              <a:t>66.5%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,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while</a:t>
            </a:r>
            <a:r>
              <a:rPr sz="900" spc="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Female</a:t>
            </a:r>
            <a:r>
              <a:rPr sz="900" spc="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investors</a:t>
            </a:r>
            <a:r>
              <a:rPr sz="900" spc="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account</a:t>
            </a:r>
            <a:r>
              <a:rPr sz="900" spc="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0D4AA"/>
                </a:solidFill>
                <a:latin typeface="Calibri"/>
                <a:cs typeface="Calibri"/>
              </a:rPr>
              <a:t>33.5%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  <a:p>
            <a:pPr marL="12700" marR="154940">
              <a:lnSpc>
                <a:spcPct val="102800"/>
              </a:lnSpc>
              <a:spcBef>
                <a:spcPts val="600"/>
              </a:spcBef>
            </a:pP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sz="900" spc="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female</a:t>
            </a:r>
            <a:r>
              <a:rPr sz="900" spc="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segment</a:t>
            </a:r>
            <a:r>
              <a:rPr sz="900" spc="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is</a:t>
            </a:r>
            <a:r>
              <a:rPr sz="900" spc="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identified</a:t>
            </a:r>
            <a:r>
              <a:rPr sz="900" spc="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as</a:t>
            </a:r>
            <a:r>
              <a:rPr sz="900" spc="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</a:t>
            </a:r>
            <a:r>
              <a:rPr sz="900" spc="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0D4AA"/>
                </a:solidFill>
                <a:latin typeface="Calibri"/>
                <a:cs typeface="Calibri"/>
              </a:rPr>
              <a:t>rapidly</a:t>
            </a:r>
            <a:r>
              <a:rPr sz="900" b="1" spc="50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0D4AA"/>
                </a:solidFill>
                <a:latin typeface="Calibri"/>
                <a:cs typeface="Calibri"/>
              </a:rPr>
              <a:t>growing</a:t>
            </a:r>
            <a:r>
              <a:rPr sz="900" b="1" spc="2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0D4AA"/>
                </a:solidFill>
                <a:latin typeface="Calibri"/>
                <a:cs typeface="Calibri"/>
              </a:rPr>
              <a:t>cohort</a:t>
            </a:r>
            <a:r>
              <a:rPr sz="900" b="1" spc="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with</a:t>
            </a:r>
            <a:r>
              <a:rPr sz="900" spc="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significant</a:t>
            </a:r>
            <a:r>
              <a:rPr sz="900" spc="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untapped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potential.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Fund</a:t>
            </a:r>
            <a:r>
              <a:rPr spc="-20" dirty="0"/>
              <a:t> Performance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34156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3Y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CAGR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Sharpe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Ratio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Sortino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Ratio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Alpha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vs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Benchmark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4025900"/>
            <a:chOff x="240618" y="935481"/>
            <a:chExt cx="8544560" cy="4025900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99569"/>
              <a:ext cx="3687445" cy="39617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0039" y="1078991"/>
              <a:ext cx="3474720" cy="3749040"/>
            </a:xfrm>
            <a:custGeom>
              <a:avLst/>
              <a:gdLst/>
              <a:ahLst/>
              <a:cxnLst/>
              <a:rect l="l" t="t" r="r" b="b"/>
              <a:pathLst>
                <a:path w="3474720" h="3749040">
                  <a:moveTo>
                    <a:pt x="3474719" y="3749039"/>
                  </a:moveTo>
                  <a:lnTo>
                    <a:pt x="0" y="3749039"/>
                  </a:lnTo>
                  <a:lnTo>
                    <a:pt x="0" y="0"/>
                  </a:lnTo>
                  <a:lnTo>
                    <a:pt x="3474719" y="0"/>
                  </a:lnTo>
                  <a:lnTo>
                    <a:pt x="3474719" y="37490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207007"/>
              <a:ext cx="384047" cy="38404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0040" y="1078991"/>
            <a:ext cx="3474720" cy="374904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105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</a:pPr>
            <a:r>
              <a:rPr sz="1050" b="1" dirty="0">
                <a:solidFill>
                  <a:srgbClr val="00A8FF"/>
                </a:solidFill>
                <a:latin typeface="Calibri"/>
                <a:cs typeface="Calibri"/>
              </a:rPr>
              <a:t>METRICS</a:t>
            </a:r>
            <a:r>
              <a:rPr sz="1050" b="1" spc="-35" dirty="0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0A8FF"/>
                </a:solidFill>
                <a:latin typeface="Calibri"/>
                <a:cs typeface="Calibri"/>
              </a:rPr>
              <a:t>COMPUTED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5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b="1" dirty="0">
                <a:solidFill>
                  <a:srgbClr val="00D4AA"/>
                </a:solidFill>
                <a:latin typeface="Calibri"/>
                <a:cs typeface="Calibri"/>
              </a:rPr>
              <a:t>3Y</a:t>
            </a:r>
            <a:r>
              <a:rPr sz="1000" b="1" spc="-3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00D4AA"/>
                </a:solidFill>
                <a:latin typeface="Calibri"/>
                <a:cs typeface="Calibri"/>
              </a:rPr>
              <a:t>CAGR</a:t>
            </a:r>
            <a:endParaRPr sz="1000">
              <a:latin typeface="Calibri"/>
              <a:cs typeface="Calibri"/>
            </a:endParaRPr>
          </a:p>
          <a:p>
            <a:pPr marL="182880" marR="218440">
              <a:lnSpc>
                <a:spcPct val="100000"/>
              </a:lnSpc>
              <a:spcBef>
                <a:spcPts val="305"/>
              </a:spcBef>
            </a:pP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Compound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annual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growth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rate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over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3-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year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horizon.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Range: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-11.7%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to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+35.1%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sz="1000" b="1" dirty="0">
                <a:solidFill>
                  <a:srgbClr val="00D4AA"/>
                </a:solidFill>
                <a:latin typeface="Calibri"/>
                <a:cs typeface="Calibri"/>
              </a:rPr>
              <a:t>Sharpe</a:t>
            </a:r>
            <a:r>
              <a:rPr sz="1000" b="1" spc="-3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0D4AA"/>
                </a:solidFill>
                <a:latin typeface="Calibri"/>
                <a:cs typeface="Calibri"/>
              </a:rPr>
              <a:t>Ratio</a:t>
            </a:r>
            <a:endParaRPr sz="1000">
              <a:latin typeface="Calibri"/>
              <a:cs typeface="Calibri"/>
            </a:endParaRPr>
          </a:p>
          <a:p>
            <a:pPr marL="182880" marR="210820">
              <a:lnSpc>
                <a:spcPct val="100000"/>
              </a:lnSpc>
              <a:spcBef>
                <a:spcPts val="300"/>
              </a:spcBef>
            </a:pP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Risk-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adjusted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return (excess return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/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total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std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dev).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HDFC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Mid-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Cap: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0.81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sz="1000" b="1" spc="-10" dirty="0">
                <a:solidFill>
                  <a:srgbClr val="00D4AA"/>
                </a:solidFill>
                <a:latin typeface="Calibri"/>
                <a:cs typeface="Calibri"/>
              </a:rPr>
              <a:t>Sortino</a:t>
            </a:r>
            <a:r>
              <a:rPr sz="1000" b="1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0D4AA"/>
                </a:solidFill>
                <a:latin typeface="Calibri"/>
                <a:cs typeface="Calibri"/>
              </a:rPr>
              <a:t>Ratio</a:t>
            </a:r>
            <a:endParaRPr sz="1000">
              <a:latin typeface="Calibri"/>
              <a:cs typeface="Calibri"/>
            </a:endParaRPr>
          </a:p>
          <a:p>
            <a:pPr marL="182880" marR="250825">
              <a:lnSpc>
                <a:spcPct val="100000"/>
              </a:lnSpc>
              <a:spcBef>
                <a:spcPts val="300"/>
              </a:spcBef>
            </a:pP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Penalises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only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downside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volatility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better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asymmetric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return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funds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b="1" dirty="0">
                <a:solidFill>
                  <a:srgbClr val="00D4AA"/>
                </a:solidFill>
                <a:latin typeface="Calibri"/>
                <a:cs typeface="Calibri"/>
              </a:rPr>
              <a:t>Alpha</a:t>
            </a:r>
            <a:r>
              <a:rPr sz="1000" b="1" spc="-25" dirty="0">
                <a:solidFill>
                  <a:srgbClr val="00D4AA"/>
                </a:solidFill>
                <a:latin typeface="Calibri"/>
                <a:cs typeface="Calibri"/>
              </a:rPr>
              <a:t> (%)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840"/>
              </a:spcBef>
            </a:pP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Excess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return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vs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Nifty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50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benchmark.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HDFC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Mid-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Cap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Alpha: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7.85%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b="1" spc="-10" dirty="0">
                <a:solidFill>
                  <a:srgbClr val="00D4AA"/>
                </a:solidFill>
                <a:latin typeface="Calibri"/>
                <a:cs typeface="Calibri"/>
              </a:rPr>
              <a:t>Tracking</a:t>
            </a:r>
            <a:r>
              <a:rPr sz="1000" b="1" spc="-3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00D4AA"/>
                </a:solidFill>
                <a:latin typeface="Calibri"/>
                <a:cs typeface="Calibri"/>
              </a:rPr>
              <a:t>Error</a:t>
            </a:r>
            <a:endParaRPr sz="1000">
              <a:latin typeface="Calibri"/>
              <a:cs typeface="Calibri"/>
            </a:endParaRPr>
          </a:p>
          <a:p>
            <a:pPr marL="182880" marR="182880">
              <a:lnSpc>
                <a:spcPct val="100000"/>
              </a:lnSpc>
              <a:spcBef>
                <a:spcPts val="305"/>
              </a:spcBef>
            </a:pP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Std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dev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of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return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minus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benchmark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return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measures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active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risk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89658" y="999569"/>
            <a:ext cx="4967605" cy="3961765"/>
            <a:chOff x="3989658" y="999569"/>
            <a:chExt cx="4967605" cy="396176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9658" y="999569"/>
              <a:ext cx="4967605" cy="39617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69080" y="1078991"/>
              <a:ext cx="4754880" cy="3749040"/>
            </a:xfrm>
            <a:custGeom>
              <a:avLst/>
              <a:gdLst/>
              <a:ahLst/>
              <a:cxnLst/>
              <a:rect l="l" t="t" r="r" b="b"/>
              <a:pathLst>
                <a:path w="4754880" h="3749040">
                  <a:moveTo>
                    <a:pt x="4754879" y="3749039"/>
                  </a:moveTo>
                  <a:lnTo>
                    <a:pt x="0" y="3749039"/>
                  </a:lnTo>
                  <a:lnTo>
                    <a:pt x="0" y="0"/>
                  </a:lnTo>
                  <a:lnTo>
                    <a:pt x="4754879" y="0"/>
                  </a:lnTo>
                  <a:lnTo>
                    <a:pt x="4754879" y="37490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0520" y="1143000"/>
              <a:ext cx="4571999" cy="347471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069079" y="1078991"/>
            <a:ext cx="4754880" cy="374904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850">
              <a:latin typeface="Times New Roman"/>
              <a:cs typeface="Times New Roman"/>
            </a:endParaRPr>
          </a:p>
          <a:p>
            <a:pPr algn="ctr">
              <a:lnSpc>
                <a:spcPts val="940"/>
              </a:lnSpc>
              <a:spcBef>
                <a:spcPts val="5"/>
              </a:spcBef>
            </a:pPr>
            <a:r>
              <a:rPr sz="850" spc="-35" dirty="0">
                <a:solidFill>
                  <a:srgbClr val="94A3B8"/>
                </a:solidFill>
                <a:latin typeface="Calibri"/>
                <a:cs typeface="Calibri"/>
              </a:rPr>
              <a:t>Top</a:t>
            </a:r>
            <a:r>
              <a:rPr sz="85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5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Funds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vs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Benchmark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—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94A3B8"/>
                </a:solidFill>
                <a:latin typeface="Calibri"/>
                <a:cs typeface="Calibri"/>
              </a:rPr>
              <a:t>3-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Year</a:t>
            </a:r>
            <a:r>
              <a:rPr sz="85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Cumulative Growth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(Base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100)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Advanced</a:t>
            </a:r>
            <a:r>
              <a:rPr spc="-55" dirty="0"/>
              <a:t> </a:t>
            </a:r>
            <a:r>
              <a:rPr dirty="0"/>
              <a:t>Risk</a:t>
            </a:r>
            <a:r>
              <a:rPr spc="-4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31889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95%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 Historical 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VaR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CVaR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Sector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 Concentration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via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HHI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1785620"/>
            <a:chOff x="240618" y="935481"/>
            <a:chExt cx="8544560" cy="1785620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99570"/>
              <a:ext cx="2955925" cy="17214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0039" y="1078991"/>
              <a:ext cx="2743200" cy="1508760"/>
            </a:xfrm>
            <a:custGeom>
              <a:avLst/>
              <a:gdLst/>
              <a:ahLst/>
              <a:cxnLst/>
              <a:rect l="l" t="t" r="r" b="b"/>
              <a:pathLst>
                <a:path w="2743200" h="1508760">
                  <a:moveTo>
                    <a:pt x="2743199" y="1508759"/>
                  </a:moveTo>
                  <a:lnTo>
                    <a:pt x="0" y="1508759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150875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488" y="1170431"/>
              <a:ext cx="320039" cy="32003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0040" y="1078991"/>
            <a:ext cx="2743200" cy="150876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Times New Roman"/>
              <a:cs typeface="Times New Roman"/>
            </a:endParaRPr>
          </a:p>
          <a:p>
            <a:pPr marL="539115">
              <a:lnSpc>
                <a:spcPct val="100000"/>
              </a:lnSpc>
              <a:spcBef>
                <a:spcPts val="5"/>
              </a:spcBef>
            </a:pP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Historical VaR</a:t>
            </a:r>
            <a:r>
              <a:rPr sz="1000" b="1" spc="-5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(95%)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0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</a:pP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Worst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expected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1-day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loss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at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95%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confidence level.</a:t>
            </a:r>
            <a:endParaRPr sz="900">
              <a:latin typeface="Calibri"/>
              <a:cs typeface="Calibri"/>
            </a:endParaRPr>
          </a:p>
          <a:p>
            <a:pPr marL="154940" marR="536575">
              <a:lnSpc>
                <a:spcPct val="100000"/>
              </a:lnSpc>
            </a:pP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Computed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across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4-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year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NAV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history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using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non-parametric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distribution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 of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daily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returns.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84986" y="999570"/>
            <a:ext cx="2955925" cy="1721485"/>
            <a:chOff x="3184986" y="999570"/>
            <a:chExt cx="2955925" cy="17214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4986" y="999570"/>
              <a:ext cx="2955925" cy="172148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64408" y="1078992"/>
              <a:ext cx="2743200" cy="1508760"/>
            </a:xfrm>
            <a:custGeom>
              <a:avLst/>
              <a:gdLst/>
              <a:ahLst/>
              <a:cxnLst/>
              <a:rect l="l" t="t" r="r" b="b"/>
              <a:pathLst>
                <a:path w="2743200" h="1508760">
                  <a:moveTo>
                    <a:pt x="2743199" y="1508759"/>
                  </a:moveTo>
                  <a:lnTo>
                    <a:pt x="0" y="1508759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150875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9855" y="1170432"/>
              <a:ext cx="320040" cy="32003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264408" y="1078991"/>
            <a:ext cx="2743200" cy="150876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Times New Roman"/>
              <a:cs typeface="Times New Roman"/>
            </a:endParaRPr>
          </a:p>
          <a:p>
            <a:pPr marL="539115">
              <a:lnSpc>
                <a:spcPct val="100000"/>
              </a:lnSpc>
              <a:spcBef>
                <a:spcPts val="5"/>
              </a:spcBef>
            </a:pP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Conditional</a:t>
            </a:r>
            <a:r>
              <a:rPr sz="1000" b="1" spc="-20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VaR</a:t>
            </a:r>
            <a:r>
              <a:rPr sz="1000" b="1" spc="-15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(CVaR)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000">
              <a:latin typeface="Calibri"/>
              <a:cs typeface="Calibri"/>
            </a:endParaRPr>
          </a:p>
          <a:p>
            <a:pPr marL="154940" marR="77470">
              <a:lnSpc>
                <a:spcPct val="100000"/>
              </a:lnSpc>
            </a:pP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Expected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Shortfall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mean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loss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beyond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VaR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threshold.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More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conservative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&amp;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tail-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risk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sensitive</a:t>
            </a:r>
            <a:r>
              <a:rPr sz="9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than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plain</a:t>
            </a:r>
            <a:r>
              <a:rPr sz="900" spc="-3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VaR.</a:t>
            </a:r>
            <a:r>
              <a:rPr sz="900" spc="-3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Critical</a:t>
            </a:r>
            <a:r>
              <a:rPr sz="900" spc="-3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sz="900" spc="-3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downside</a:t>
            </a:r>
            <a:r>
              <a:rPr sz="900" spc="-3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stress</a:t>
            </a:r>
            <a:r>
              <a:rPr sz="900" spc="-3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scenarios.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29354" y="999570"/>
            <a:ext cx="2955925" cy="1721485"/>
            <a:chOff x="6129354" y="999570"/>
            <a:chExt cx="2955925" cy="172148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9354" y="999570"/>
              <a:ext cx="2955925" cy="172148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08776" y="1078992"/>
              <a:ext cx="2743200" cy="1508760"/>
            </a:xfrm>
            <a:custGeom>
              <a:avLst/>
              <a:gdLst/>
              <a:ahLst/>
              <a:cxnLst/>
              <a:rect l="l" t="t" r="r" b="b"/>
              <a:pathLst>
                <a:path w="2743200" h="1508760">
                  <a:moveTo>
                    <a:pt x="2743199" y="1508759"/>
                  </a:moveTo>
                  <a:lnTo>
                    <a:pt x="0" y="1508759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150875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4224" y="1170432"/>
              <a:ext cx="320040" cy="32003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208776" y="1078991"/>
            <a:ext cx="2743200" cy="150876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Times New Roman"/>
              <a:cs typeface="Times New Roman"/>
            </a:endParaRPr>
          </a:p>
          <a:p>
            <a:pPr marL="539115">
              <a:lnSpc>
                <a:spcPct val="100000"/>
              </a:lnSpc>
              <a:spcBef>
                <a:spcPts val="5"/>
              </a:spcBef>
            </a:pPr>
            <a:r>
              <a:rPr sz="1000" b="1" dirty="0">
                <a:solidFill>
                  <a:srgbClr val="F49E0B"/>
                </a:solidFill>
                <a:latin typeface="Calibri"/>
                <a:cs typeface="Calibri"/>
              </a:rPr>
              <a:t>HHI</a:t>
            </a:r>
            <a:r>
              <a:rPr sz="1000" b="1" spc="10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Concentration</a:t>
            </a:r>
            <a:r>
              <a:rPr sz="1000" b="1" spc="10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F49E0B"/>
                </a:solidFill>
                <a:latin typeface="Calibri"/>
                <a:cs typeface="Calibri"/>
              </a:rPr>
              <a:t>Index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000">
              <a:latin typeface="Calibri"/>
              <a:cs typeface="Calibri"/>
            </a:endParaRPr>
          </a:p>
          <a:p>
            <a:pPr marL="154940" marR="199390">
              <a:lnSpc>
                <a:spcPct val="100000"/>
              </a:lnSpc>
            </a:pP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Herfindahl-Hirschman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Index</a:t>
            </a:r>
            <a:r>
              <a:rPr sz="900" spc="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applied</a:t>
            </a:r>
            <a:r>
              <a:rPr sz="900" spc="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to</a:t>
            </a:r>
            <a:r>
              <a:rPr sz="900" spc="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sector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weights.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HHI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&gt;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2500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=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high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concentration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risk.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119092</a:t>
            </a:r>
            <a:r>
              <a:rPr sz="900" spc="-3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leads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with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HHI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Microsoft Sans Serif"/>
                <a:cs typeface="Microsoft Sans Serif"/>
              </a:rPr>
              <a:t>≈</a:t>
            </a:r>
            <a:r>
              <a:rPr sz="900" spc="-60" dirty="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2980.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0618" y="2663778"/>
            <a:ext cx="4647565" cy="2315845"/>
            <a:chOff x="240618" y="2663778"/>
            <a:chExt cx="4647565" cy="231584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618" y="2663778"/>
              <a:ext cx="4647565" cy="23158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20039" y="2743199"/>
              <a:ext cx="4434840" cy="2103120"/>
            </a:xfrm>
            <a:custGeom>
              <a:avLst/>
              <a:gdLst/>
              <a:ahLst/>
              <a:cxnLst/>
              <a:rect l="l" t="t" r="r" b="b"/>
              <a:pathLst>
                <a:path w="4434840" h="2103120">
                  <a:moveTo>
                    <a:pt x="4434839" y="2103119"/>
                  </a:moveTo>
                  <a:lnTo>
                    <a:pt x="0" y="2103119"/>
                  </a:lnTo>
                  <a:lnTo>
                    <a:pt x="0" y="0"/>
                  </a:lnTo>
                  <a:lnTo>
                    <a:pt x="4434839" y="0"/>
                  </a:lnTo>
                  <a:lnTo>
                    <a:pt x="4434839" y="210311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480" y="2816352"/>
              <a:ext cx="4251959" cy="192023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20040" y="2743200"/>
            <a:ext cx="4434840" cy="210312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90-Day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Rolling Sharpe Ratio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—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35" dirty="0">
                <a:solidFill>
                  <a:srgbClr val="94A3B8"/>
                </a:solidFill>
                <a:latin typeface="Calibri"/>
                <a:cs typeface="Calibri"/>
              </a:rPr>
              <a:t>Top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5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 Funds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04058" y="2663778"/>
            <a:ext cx="4053204" cy="2315845"/>
            <a:chOff x="4904058" y="2663778"/>
            <a:chExt cx="4053204" cy="2315845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04058" y="2663778"/>
              <a:ext cx="4053205" cy="231584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983479" y="2743199"/>
              <a:ext cx="3840479" cy="2103120"/>
            </a:xfrm>
            <a:custGeom>
              <a:avLst/>
              <a:gdLst/>
              <a:ahLst/>
              <a:cxnLst/>
              <a:rect l="l" t="t" r="r" b="b"/>
              <a:pathLst>
                <a:path w="3840479" h="2103120">
                  <a:moveTo>
                    <a:pt x="3840479" y="2103119"/>
                  </a:moveTo>
                  <a:lnTo>
                    <a:pt x="0" y="2103119"/>
                  </a:lnTo>
                  <a:lnTo>
                    <a:pt x="0" y="0"/>
                  </a:lnTo>
                  <a:lnTo>
                    <a:pt x="3840479" y="0"/>
                  </a:lnTo>
                  <a:lnTo>
                    <a:pt x="3840479" y="210311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74920" y="2816352"/>
              <a:ext cx="3657599" cy="192023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4983479" y="2743200"/>
            <a:ext cx="3840479" cy="210312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850">
              <a:latin typeface="Times New Roman"/>
              <a:cs typeface="Times New Roman"/>
            </a:endParaRPr>
          </a:p>
          <a:p>
            <a:pPr marL="676910">
              <a:lnSpc>
                <a:spcPct val="100000"/>
              </a:lnSpc>
            </a:pPr>
            <a:r>
              <a:rPr sz="850" spc="-35" dirty="0">
                <a:solidFill>
                  <a:srgbClr val="94A3B8"/>
                </a:solidFill>
                <a:latin typeface="Calibri"/>
                <a:cs typeface="Calibri"/>
              </a:rPr>
              <a:t>Top</a:t>
            </a:r>
            <a:r>
              <a:rPr sz="85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10</a:t>
            </a:r>
            <a:r>
              <a:rPr sz="8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Concentrated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Funds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by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HHI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(High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HHI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=</a:t>
            </a:r>
            <a:r>
              <a:rPr sz="85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94A3B8"/>
                </a:solidFill>
                <a:latin typeface="Calibri"/>
                <a:cs typeface="Calibri"/>
              </a:rPr>
              <a:t>High</a:t>
            </a:r>
            <a:r>
              <a:rPr sz="85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94A3B8"/>
                </a:solidFill>
                <a:latin typeface="Calibri"/>
                <a:cs typeface="Calibri"/>
              </a:rPr>
              <a:t>Risk)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Behavioural</a:t>
            </a:r>
            <a:r>
              <a:rPr spc="-65" dirty="0"/>
              <a:t> </a:t>
            </a:r>
            <a:r>
              <a:rPr dirty="0"/>
              <a:t>Analytics:</a:t>
            </a:r>
            <a:r>
              <a:rPr spc="-60" dirty="0"/>
              <a:t> </a:t>
            </a:r>
            <a:r>
              <a:rPr dirty="0"/>
              <a:t>Cohort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spc="-10" dirty="0"/>
              <a:t>Churn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46240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Investor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lifecycle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analysis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94A3B8"/>
                </a:solidFill>
                <a:latin typeface="Calibri"/>
                <a:cs typeface="Calibri"/>
              </a:rPr>
              <a:t>At-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risk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detection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2024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vs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2025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cohort</a:t>
            </a:r>
            <a:r>
              <a:rPr sz="11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comparison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2105660"/>
            <a:chOff x="240618" y="935481"/>
            <a:chExt cx="8544560" cy="2105660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99570"/>
              <a:ext cx="4281805" cy="204152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0040" y="1078991"/>
            <a:ext cx="4069079" cy="182880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vert="horz" wrap="square" lIns="0" tIns="13906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95"/>
              </a:spcBef>
            </a:pPr>
            <a:r>
              <a:rPr sz="1100" b="1" dirty="0">
                <a:solidFill>
                  <a:srgbClr val="00A8FF"/>
                </a:solidFill>
                <a:latin typeface="Calibri"/>
                <a:cs typeface="Calibri"/>
              </a:rPr>
              <a:t>2024</a:t>
            </a:r>
            <a:r>
              <a:rPr sz="1100" b="1" spc="-45" dirty="0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A8FF"/>
                </a:solidFill>
                <a:latin typeface="Calibri"/>
                <a:cs typeface="Calibri"/>
              </a:rPr>
              <a:t>COHORT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dirty="0">
                <a:solidFill>
                  <a:srgbClr val="00A8FF"/>
                </a:solidFill>
                <a:latin typeface="Microsoft Sans Serif"/>
                <a:cs typeface="Microsoft Sans Serif"/>
              </a:rPr>
              <a:t>→</a:t>
            </a:r>
            <a:r>
              <a:rPr sz="1000" spc="135" dirty="0">
                <a:solidFill>
                  <a:srgbClr val="00A8F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706,618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total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net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inflows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(Cr)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across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all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categories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dirty="0">
                <a:solidFill>
                  <a:srgbClr val="00A8FF"/>
                </a:solidFill>
                <a:latin typeface="Microsoft Sans Serif"/>
                <a:cs typeface="Microsoft Sans Serif"/>
              </a:rPr>
              <a:t>→</a:t>
            </a:r>
            <a:r>
              <a:rPr sz="1000" spc="145" dirty="0">
                <a:solidFill>
                  <a:srgbClr val="00A8F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Liquid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funds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dominated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346,328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Cr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(49%)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dirty="0">
                <a:solidFill>
                  <a:srgbClr val="00A8FF"/>
                </a:solidFill>
                <a:latin typeface="Microsoft Sans Serif"/>
                <a:cs typeface="Microsoft Sans Serif"/>
              </a:rPr>
              <a:t>→</a:t>
            </a:r>
            <a:r>
              <a:rPr sz="1000" spc="155" dirty="0">
                <a:solidFill>
                  <a:srgbClr val="00A8F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Avg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ticket: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Microsoft Sans Serif"/>
                <a:cs typeface="Microsoft Sans Serif"/>
              </a:rPr>
              <a:t>₹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12,200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per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investor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dirty="0">
                <a:solidFill>
                  <a:srgbClr val="00A8FF"/>
                </a:solidFill>
                <a:latin typeface="Microsoft Sans Serif"/>
                <a:cs typeface="Microsoft Sans Serif"/>
              </a:rPr>
              <a:t>→</a:t>
            </a:r>
            <a:r>
              <a:rPr sz="1000" spc="155" dirty="0">
                <a:solidFill>
                  <a:srgbClr val="00A8F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Redemption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rate: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~42%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of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gross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inflow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458" y="999570"/>
            <a:ext cx="4281805" cy="20415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754879" y="1078991"/>
            <a:ext cx="4069079" cy="182880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vert="horz" wrap="square" lIns="0" tIns="13906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95"/>
              </a:spcBef>
            </a:pP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2025</a:t>
            </a:r>
            <a:r>
              <a:rPr sz="1100" b="1" spc="-4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COHORT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dirty="0">
                <a:solidFill>
                  <a:srgbClr val="00D4AA"/>
                </a:solidFill>
                <a:latin typeface="Microsoft Sans Serif"/>
                <a:cs typeface="Microsoft Sans Serif"/>
              </a:rPr>
              <a:t>→</a:t>
            </a:r>
            <a:r>
              <a:rPr sz="1000" spc="145" dirty="0">
                <a:solidFill>
                  <a:srgbClr val="00D4A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225,621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Cr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net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inflows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Jan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Q2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2025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snapshot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dirty="0">
                <a:solidFill>
                  <a:srgbClr val="00D4AA"/>
                </a:solidFill>
                <a:latin typeface="Microsoft Sans Serif"/>
                <a:cs typeface="Microsoft Sans Serif"/>
              </a:rPr>
              <a:t>→</a:t>
            </a:r>
            <a:r>
              <a:rPr sz="1000" spc="155" dirty="0">
                <a:solidFill>
                  <a:srgbClr val="00D4A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SBI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&amp;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ICICI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Pru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funds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largest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AUM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gainers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dirty="0">
                <a:solidFill>
                  <a:srgbClr val="00D4AA"/>
                </a:solidFill>
                <a:latin typeface="Microsoft Sans Serif"/>
                <a:cs typeface="Microsoft Sans Serif"/>
              </a:rPr>
              <a:t>→</a:t>
            </a:r>
            <a:r>
              <a:rPr sz="1000" spc="140" dirty="0">
                <a:solidFill>
                  <a:srgbClr val="00D4A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Avg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YoY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growth: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+31.46%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across</a:t>
            </a:r>
            <a:r>
              <a:rPr sz="100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categories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dirty="0">
                <a:solidFill>
                  <a:srgbClr val="00D4AA"/>
                </a:solidFill>
                <a:latin typeface="Microsoft Sans Serif"/>
                <a:cs typeface="Microsoft Sans Serif"/>
              </a:rPr>
              <a:t>→</a:t>
            </a:r>
            <a:r>
              <a:rPr sz="1000" spc="155" dirty="0">
                <a:solidFill>
                  <a:srgbClr val="00D4A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all-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time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high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hit</a:t>
            </a:r>
            <a:r>
              <a:rPr sz="100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in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May</a:t>
            </a:r>
            <a:r>
              <a:rPr sz="100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1E7F0"/>
                </a:solidFill>
                <a:latin typeface="Calibri"/>
                <a:cs typeface="Calibri"/>
              </a:rPr>
              <a:t>2025:</a:t>
            </a:r>
            <a:r>
              <a:rPr sz="100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1E7F0"/>
                </a:solidFill>
                <a:latin typeface="Microsoft Sans Serif"/>
                <a:cs typeface="Microsoft Sans Serif"/>
              </a:rPr>
              <a:t>₹</a:t>
            </a:r>
            <a:r>
              <a:rPr sz="1000" spc="-10" dirty="0">
                <a:solidFill>
                  <a:srgbClr val="E1E7F0"/>
                </a:solidFill>
                <a:latin typeface="Calibri"/>
                <a:cs typeface="Calibri"/>
              </a:rPr>
              <a:t>13.97M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0618" y="2983818"/>
            <a:ext cx="8716645" cy="1995805"/>
            <a:chOff x="240618" y="2983818"/>
            <a:chExt cx="8716645" cy="199580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618" y="2983818"/>
              <a:ext cx="8716645" cy="19958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0039" y="3063240"/>
              <a:ext cx="8503920" cy="1783080"/>
            </a:xfrm>
            <a:custGeom>
              <a:avLst/>
              <a:gdLst/>
              <a:ahLst/>
              <a:cxnLst/>
              <a:rect l="l" t="t" r="r" b="b"/>
              <a:pathLst>
                <a:path w="8503920" h="1783079">
                  <a:moveTo>
                    <a:pt x="8503919" y="1783079"/>
                  </a:moveTo>
                  <a:lnTo>
                    <a:pt x="0" y="1783079"/>
                  </a:lnTo>
                  <a:lnTo>
                    <a:pt x="0" y="0"/>
                  </a:lnTo>
                  <a:lnTo>
                    <a:pt x="8503919" y="0"/>
                  </a:lnTo>
                  <a:lnTo>
                    <a:pt x="8503919" y="178307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920" y="3200400"/>
              <a:ext cx="411479" cy="41147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20040" y="3063239"/>
            <a:ext cx="8503920" cy="178308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1100">
              <a:latin typeface="Times New Roman"/>
              <a:cs typeface="Times New Roman"/>
            </a:endParaRPr>
          </a:p>
          <a:p>
            <a:pPr marL="667385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solidFill>
                  <a:srgbClr val="F49E0B"/>
                </a:solidFill>
                <a:latin typeface="Calibri"/>
                <a:cs typeface="Calibri"/>
              </a:rPr>
              <a:t>CHURN</a:t>
            </a:r>
            <a:r>
              <a:rPr sz="1100" b="1" spc="-40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49E0B"/>
                </a:solidFill>
                <a:latin typeface="Calibri"/>
                <a:cs typeface="Calibri"/>
              </a:rPr>
              <a:t>DETECTION</a:t>
            </a:r>
            <a:r>
              <a:rPr sz="1100" b="1" spc="-40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49E0B"/>
                </a:solidFill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0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buClr>
                <a:srgbClr val="F49E0B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spc="-30" dirty="0">
                <a:solidFill>
                  <a:srgbClr val="E1E7F0"/>
                </a:solidFill>
                <a:latin typeface="Calibri"/>
                <a:cs typeface="Calibri"/>
              </a:rPr>
              <a:t>At-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Investor: </a:t>
            </a:r>
            <a:r>
              <a:rPr sz="950" dirty="0">
                <a:solidFill>
                  <a:srgbClr val="E1E7F0"/>
                </a:solidFill>
                <a:latin typeface="Microsoft Sans Serif"/>
                <a:cs typeface="Microsoft Sans Serif"/>
              </a:rPr>
              <a:t>≥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2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consecutive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months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of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missed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payment detected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via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pandas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time-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series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gap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analysis</a:t>
            </a:r>
            <a:endParaRPr sz="95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buClr>
                <a:srgbClr val="F49E0B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Churn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Score: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rule-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based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scoring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using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gap,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redemption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frequency,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account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tenure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identifies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high-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value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re-engage</a:t>
            </a:r>
            <a:endParaRPr sz="95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buClr>
                <a:srgbClr val="F49E0B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Business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Impact: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flagging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'at-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risk'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enables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timely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AMC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outreach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reducing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AUM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attrition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by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up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15–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20%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simulated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scenarios</a:t>
            </a:r>
            <a:endParaRPr sz="95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buClr>
                <a:srgbClr val="F49E0B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Segment: 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36–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45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age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group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with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Karnataka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/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Maharashtra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base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shows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highest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average ticket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sz="950" spc="-45" dirty="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highest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churn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revenue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119542"/>
            <a:ext cx="7416800" cy="89090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800" spc="-25" dirty="0"/>
              <a:t>Interactive</a:t>
            </a:r>
            <a:r>
              <a:rPr sz="2800" spc="-65" dirty="0"/>
              <a:t> </a:t>
            </a:r>
            <a:r>
              <a:rPr sz="2800" dirty="0"/>
              <a:t>Dashboard</a:t>
            </a:r>
            <a:r>
              <a:rPr sz="2800" spc="-65" dirty="0"/>
              <a:t> </a:t>
            </a:r>
            <a:r>
              <a:rPr sz="2800" spc="-10" dirty="0"/>
              <a:t>Overview</a:t>
            </a:r>
            <a:endParaRPr sz="280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300" b="0" spc="-20" dirty="0">
                <a:solidFill>
                  <a:srgbClr val="94A3B8"/>
                </a:solidFill>
                <a:latin typeface="Calibri"/>
                <a:cs typeface="Calibri"/>
              </a:rPr>
              <a:t>4-</a:t>
            </a:r>
            <a:r>
              <a:rPr sz="1300" b="0" dirty="0">
                <a:solidFill>
                  <a:srgbClr val="94A3B8"/>
                </a:solidFill>
                <a:latin typeface="Calibri"/>
                <a:cs typeface="Calibri"/>
              </a:rPr>
              <a:t>page</a:t>
            </a:r>
            <a:r>
              <a:rPr sz="1300" b="0" spc="-4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dirty="0">
                <a:solidFill>
                  <a:srgbClr val="94A3B8"/>
                </a:solidFill>
                <a:latin typeface="Calibri"/>
                <a:cs typeface="Calibri"/>
              </a:rPr>
              <a:t>Power</a:t>
            </a:r>
            <a:r>
              <a:rPr sz="1300" b="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dirty="0">
                <a:solidFill>
                  <a:srgbClr val="94A3B8"/>
                </a:solidFill>
                <a:latin typeface="Calibri"/>
                <a:cs typeface="Calibri"/>
              </a:rPr>
              <a:t>BI</a:t>
            </a:r>
            <a:r>
              <a:rPr sz="1300" b="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spc="-10" dirty="0">
                <a:solidFill>
                  <a:srgbClr val="94A3B8"/>
                </a:solidFill>
                <a:latin typeface="Calibri"/>
                <a:cs typeface="Calibri"/>
              </a:rPr>
              <a:t>dashboard</a:t>
            </a:r>
            <a:r>
              <a:rPr sz="1300" b="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dirty="0">
                <a:solidFill>
                  <a:srgbClr val="94A3B8"/>
                </a:solidFill>
                <a:latin typeface="Calibri"/>
                <a:cs typeface="Calibri"/>
              </a:rPr>
              <a:t>—</a:t>
            </a:r>
            <a:r>
              <a:rPr sz="1300" b="0" spc="-4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dirty="0">
                <a:solidFill>
                  <a:srgbClr val="94A3B8"/>
                </a:solidFill>
                <a:latin typeface="Calibri"/>
                <a:cs typeface="Calibri"/>
              </a:rPr>
              <a:t>industry</a:t>
            </a:r>
            <a:r>
              <a:rPr sz="1300" b="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dirty="0">
                <a:solidFill>
                  <a:srgbClr val="94A3B8"/>
                </a:solidFill>
                <a:latin typeface="Calibri"/>
                <a:cs typeface="Calibri"/>
              </a:rPr>
              <a:t>KPIs,</a:t>
            </a:r>
            <a:r>
              <a:rPr sz="1300" b="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spc="-10" dirty="0">
                <a:solidFill>
                  <a:srgbClr val="94A3B8"/>
                </a:solidFill>
                <a:latin typeface="Calibri"/>
                <a:cs typeface="Calibri"/>
              </a:rPr>
              <a:t>performance</a:t>
            </a:r>
            <a:r>
              <a:rPr sz="1300" b="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spc="-10" dirty="0">
                <a:solidFill>
                  <a:srgbClr val="94A3B8"/>
                </a:solidFill>
                <a:latin typeface="Calibri"/>
                <a:cs typeface="Calibri"/>
              </a:rPr>
              <a:t>matrix,</a:t>
            </a:r>
            <a:r>
              <a:rPr sz="1300" b="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spc="-10" dirty="0">
                <a:solidFill>
                  <a:srgbClr val="94A3B8"/>
                </a:solidFill>
                <a:latin typeface="Calibri"/>
                <a:cs typeface="Calibri"/>
              </a:rPr>
              <a:t>investor</a:t>
            </a:r>
            <a:r>
              <a:rPr sz="1300" b="0" spc="-4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spc="-10" dirty="0">
                <a:solidFill>
                  <a:srgbClr val="94A3B8"/>
                </a:solidFill>
                <a:latin typeface="Calibri"/>
                <a:cs typeface="Calibri"/>
              </a:rPr>
              <a:t>demographics,</a:t>
            </a:r>
            <a:r>
              <a:rPr sz="1300" b="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spc="-10" dirty="0">
                <a:solidFill>
                  <a:srgbClr val="94A3B8"/>
                </a:solidFill>
                <a:latin typeface="Calibri"/>
                <a:cs typeface="Calibri"/>
              </a:rPr>
              <a:t>transaction</a:t>
            </a:r>
            <a:r>
              <a:rPr sz="1300" b="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b="0" spc="-10" dirty="0">
                <a:solidFill>
                  <a:srgbClr val="94A3B8"/>
                </a:solidFill>
                <a:latin typeface="Calibri"/>
                <a:cs typeface="Calibri"/>
              </a:rPr>
              <a:t>analytics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1095375"/>
            <a:ext cx="8382000" cy="19685"/>
          </a:xfrm>
          <a:custGeom>
            <a:avLst/>
            <a:gdLst/>
            <a:ahLst/>
            <a:cxnLst/>
            <a:rect l="l" t="t" r="r" b="b"/>
            <a:pathLst>
              <a:path w="8382000" h="19684">
                <a:moveTo>
                  <a:pt x="8381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381999" y="0"/>
                </a:lnTo>
                <a:lnTo>
                  <a:pt x="8381999" y="19199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53953" y="1206453"/>
            <a:ext cx="2212975" cy="3832225"/>
            <a:chOff x="253953" y="1206453"/>
            <a:chExt cx="2212975" cy="3832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953" y="1206453"/>
              <a:ext cx="2212825" cy="38322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337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2000099" y="3619499"/>
                  </a:moveTo>
                  <a:lnTo>
                    <a:pt x="0" y="36194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337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0" y="0"/>
                  </a:moveTo>
                  <a:lnTo>
                    <a:pt x="2000099" y="0"/>
                  </a:lnTo>
                  <a:lnTo>
                    <a:pt x="2000099" y="3619499"/>
                  </a:lnTo>
                  <a:lnTo>
                    <a:pt x="0" y="3619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24" y="1381125"/>
              <a:ext cx="1809599" cy="20954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3374" y="3524249"/>
              <a:ext cx="2000250" cy="38100"/>
            </a:xfrm>
            <a:custGeom>
              <a:avLst/>
              <a:gdLst/>
              <a:ahLst/>
              <a:cxnLst/>
              <a:rect l="l" t="t" r="r" b="b"/>
              <a:pathLst>
                <a:path w="2000250" h="38100">
                  <a:moveTo>
                    <a:pt x="20000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8137" y="3562350"/>
            <a:ext cx="1990725" cy="1338580"/>
          </a:xfrm>
          <a:prstGeom prst="rect">
            <a:avLst/>
          </a:prstGeom>
          <a:solidFill>
            <a:srgbClr val="111827"/>
          </a:solidFill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Page</a:t>
            </a:r>
            <a:r>
              <a:rPr sz="1100" b="1" spc="-3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1</a:t>
            </a:r>
            <a:r>
              <a:rPr sz="1100" b="1" spc="-3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sz="1100" b="1" spc="-3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Industry</a:t>
            </a:r>
            <a:r>
              <a:rPr sz="1100" b="1" spc="-3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00D4AA"/>
                </a:solidFill>
                <a:latin typeface="Calibri"/>
                <a:cs typeface="Calibri"/>
              </a:rPr>
              <a:t>KPIs</a:t>
            </a:r>
            <a:endParaRPr sz="1100">
              <a:latin typeface="Calibri"/>
              <a:cs typeface="Calibri"/>
            </a:endParaRPr>
          </a:p>
          <a:p>
            <a:pPr marL="106045" marR="69850" algn="ctr">
              <a:lnSpc>
                <a:spcPct val="100000"/>
              </a:lnSpc>
              <a:spcBef>
                <a:spcPts val="844"/>
              </a:spcBef>
            </a:pP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Total</a:t>
            </a:r>
            <a:r>
              <a:rPr sz="1000" spc="-3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AUM,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SIP</a:t>
            </a:r>
            <a:r>
              <a:rPr sz="1000" spc="-3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inflows,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count,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AUM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by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year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&amp;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house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44703" y="1206453"/>
            <a:ext cx="2212975" cy="3832225"/>
            <a:chOff x="2444703" y="1206453"/>
            <a:chExt cx="2212975" cy="38322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4703" y="1206453"/>
              <a:ext cx="2212825" cy="38322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2412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2000099" y="3619499"/>
                  </a:moveTo>
                  <a:lnTo>
                    <a:pt x="0" y="36194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2412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0" y="0"/>
                  </a:moveTo>
                  <a:lnTo>
                    <a:pt x="2000099" y="0"/>
                  </a:lnTo>
                  <a:lnTo>
                    <a:pt x="2000099" y="3619499"/>
                  </a:lnTo>
                  <a:lnTo>
                    <a:pt x="0" y="3619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9374" y="1381125"/>
              <a:ext cx="1809599" cy="20954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524124" y="3524249"/>
              <a:ext cx="2000250" cy="38100"/>
            </a:xfrm>
            <a:custGeom>
              <a:avLst/>
              <a:gdLst/>
              <a:ahLst/>
              <a:cxnLst/>
              <a:rect l="l" t="t" r="r" b="b"/>
              <a:pathLst>
                <a:path w="2000250" h="38100">
                  <a:moveTo>
                    <a:pt x="20000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528887" y="3562350"/>
            <a:ext cx="1990725" cy="1338580"/>
          </a:xfrm>
          <a:prstGeom prst="rect">
            <a:avLst/>
          </a:prstGeom>
          <a:solidFill>
            <a:srgbClr val="111827"/>
          </a:solidFill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Page</a:t>
            </a:r>
            <a:r>
              <a:rPr sz="1100" b="1" spc="-2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2</a:t>
            </a:r>
            <a:r>
              <a:rPr sz="1100" b="1" spc="-1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sz="1100" b="1" spc="-1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Performance</a:t>
            </a:r>
            <a:r>
              <a:rPr sz="1100" b="1" spc="-1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Matrix</a:t>
            </a:r>
            <a:endParaRPr sz="1100">
              <a:latin typeface="Calibri"/>
              <a:cs typeface="Calibri"/>
            </a:endParaRPr>
          </a:p>
          <a:p>
            <a:pPr marL="147955" marR="140970" algn="ctr">
              <a:lnSpc>
                <a:spcPct val="100000"/>
              </a:lnSpc>
              <a:spcBef>
                <a:spcPts val="844"/>
              </a:spcBef>
            </a:pP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3Y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CAGR,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Sharpe,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Alpha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scatter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CBD4E1"/>
                </a:solidFill>
                <a:latin typeface="Calibri"/>
                <a:cs typeface="Calibri"/>
              </a:rPr>
              <a:t>+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 NAV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trend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by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scheme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35453" y="1206453"/>
            <a:ext cx="2212975" cy="3832225"/>
            <a:chOff x="4635453" y="1206453"/>
            <a:chExt cx="2212975" cy="383222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5453" y="1206453"/>
              <a:ext cx="2212825" cy="38322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71487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2000099" y="3619499"/>
                  </a:moveTo>
                  <a:lnTo>
                    <a:pt x="0" y="36194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1487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0" y="0"/>
                  </a:moveTo>
                  <a:lnTo>
                    <a:pt x="2000099" y="0"/>
                  </a:lnTo>
                  <a:lnTo>
                    <a:pt x="2000099" y="3619499"/>
                  </a:lnTo>
                  <a:lnTo>
                    <a:pt x="0" y="3619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10124" y="1381125"/>
              <a:ext cx="1809599" cy="20954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14874" y="3524249"/>
              <a:ext cx="2000250" cy="38100"/>
            </a:xfrm>
            <a:custGeom>
              <a:avLst/>
              <a:gdLst/>
              <a:ahLst/>
              <a:cxnLst/>
              <a:rect l="l" t="t" r="r" b="b"/>
              <a:pathLst>
                <a:path w="2000250" h="38100">
                  <a:moveTo>
                    <a:pt x="20000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19637" y="3562350"/>
            <a:ext cx="1990725" cy="1338580"/>
          </a:xfrm>
          <a:prstGeom prst="rect">
            <a:avLst/>
          </a:prstGeom>
          <a:solidFill>
            <a:srgbClr val="111827"/>
          </a:solidFill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Page</a:t>
            </a:r>
            <a:r>
              <a:rPr sz="1100" b="1" spc="-30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3</a:t>
            </a:r>
            <a:r>
              <a:rPr sz="11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sz="11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Fund</a:t>
            </a:r>
            <a:r>
              <a:rPr sz="11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Inflows</a:t>
            </a:r>
            <a:endParaRPr sz="1100">
              <a:latin typeface="Calibri"/>
              <a:cs typeface="Calibri"/>
            </a:endParaRPr>
          </a:p>
          <a:p>
            <a:pPr marL="111760" marR="75565" algn="ctr">
              <a:lnSpc>
                <a:spcPct val="100000"/>
              </a:lnSpc>
              <a:spcBef>
                <a:spcPts val="844"/>
              </a:spcBef>
            </a:pP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Net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inflow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by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category,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SIP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vs</a:t>
            </a:r>
            <a:r>
              <a:rPr sz="1000" spc="-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close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value,</a:t>
            </a:r>
            <a:r>
              <a:rPr sz="1000" spc="-3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YoY</a:t>
            </a:r>
            <a:r>
              <a:rPr sz="1000" spc="-3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growth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26203" y="1206453"/>
            <a:ext cx="2212975" cy="3832225"/>
            <a:chOff x="6826203" y="1206453"/>
            <a:chExt cx="2212975" cy="383222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6203" y="1206453"/>
              <a:ext cx="2212825" cy="383222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905625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2000099" y="3619499"/>
                  </a:moveTo>
                  <a:lnTo>
                    <a:pt x="0" y="36194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05625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0" y="0"/>
                  </a:moveTo>
                  <a:lnTo>
                    <a:pt x="2000099" y="0"/>
                  </a:lnTo>
                  <a:lnTo>
                    <a:pt x="2000099" y="3619499"/>
                  </a:lnTo>
                  <a:lnTo>
                    <a:pt x="0" y="3619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0875" y="1381125"/>
              <a:ext cx="1809599" cy="20954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905625" y="3524249"/>
              <a:ext cx="2000250" cy="38100"/>
            </a:xfrm>
            <a:custGeom>
              <a:avLst/>
              <a:gdLst/>
              <a:ahLst/>
              <a:cxnLst/>
              <a:rect l="l" t="t" r="r" b="b"/>
              <a:pathLst>
                <a:path w="2000250" h="38100">
                  <a:moveTo>
                    <a:pt x="20000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910387" y="3562350"/>
            <a:ext cx="1990725" cy="1338580"/>
          </a:xfrm>
          <a:prstGeom prst="rect">
            <a:avLst/>
          </a:prstGeom>
          <a:solidFill>
            <a:srgbClr val="111827"/>
          </a:solidFill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Page</a:t>
            </a:r>
            <a:r>
              <a:rPr sz="11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4</a:t>
            </a:r>
            <a:r>
              <a:rPr sz="11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sz="11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Investor</a:t>
            </a:r>
            <a:r>
              <a:rPr sz="1100" b="1" spc="-2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Analytics</a:t>
            </a:r>
            <a:endParaRPr sz="1100">
              <a:latin typeface="Calibri"/>
              <a:cs typeface="Calibri"/>
            </a:endParaRPr>
          </a:p>
          <a:p>
            <a:pPr marL="153670" marR="147320" algn="ctr">
              <a:lnSpc>
                <a:spcPct val="100000"/>
              </a:lnSpc>
              <a:spcBef>
                <a:spcPts val="844"/>
              </a:spcBef>
            </a:pPr>
            <a:r>
              <a:rPr sz="1000" spc="-10" dirty="0">
                <a:solidFill>
                  <a:srgbClr val="CBD4E1"/>
                </a:solidFill>
                <a:latin typeface="Calibri"/>
                <a:cs typeface="Calibri"/>
              </a:rPr>
              <a:t>Transaction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type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split,</a:t>
            </a:r>
            <a:r>
              <a:rPr sz="10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state-wise 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amounts,</a:t>
            </a:r>
            <a:r>
              <a:rPr sz="1000" spc="-3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CBD4E1"/>
                </a:solidFill>
                <a:latin typeface="Calibri"/>
                <a:cs typeface="Calibri"/>
              </a:rPr>
              <a:t>age-</a:t>
            </a:r>
            <a:r>
              <a:rPr sz="1000" dirty="0">
                <a:solidFill>
                  <a:srgbClr val="CBD4E1"/>
                </a:solidFill>
                <a:latin typeface="Calibri"/>
                <a:cs typeface="Calibri"/>
              </a:rPr>
              <a:t>group</a:t>
            </a:r>
            <a:r>
              <a:rPr sz="1000" spc="-3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CBD4E1"/>
                </a:solidFill>
                <a:latin typeface="Calibri"/>
                <a:cs typeface="Calibri"/>
              </a:rPr>
              <a:t>avg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Strategic</a:t>
            </a:r>
            <a:r>
              <a:rPr spc="-25" dirty="0"/>
              <a:t> </a:t>
            </a:r>
            <a:r>
              <a:rPr dirty="0"/>
              <a:t>Findings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Recommendations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29502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Business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intelligence</a:t>
            </a:r>
            <a:r>
              <a:rPr sz="11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insights</a:t>
            </a:r>
            <a:r>
              <a:rPr sz="11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derived</a:t>
            </a:r>
            <a:r>
              <a:rPr sz="11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A3B8"/>
                </a:solidFill>
                <a:latin typeface="Calibri"/>
                <a:cs typeface="Calibri"/>
              </a:rPr>
              <a:t>from</a:t>
            </a:r>
            <a:r>
              <a:rPr sz="11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Calibri"/>
                <a:cs typeface="Calibri"/>
              </a:rPr>
              <a:t>analytics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4025900"/>
            <a:chOff x="240618" y="935481"/>
            <a:chExt cx="8544560" cy="4025900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99569"/>
              <a:ext cx="4281805" cy="39617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0039" y="1078991"/>
              <a:ext cx="4069079" cy="3749040"/>
            </a:xfrm>
            <a:custGeom>
              <a:avLst/>
              <a:gdLst/>
              <a:ahLst/>
              <a:cxnLst/>
              <a:rect l="l" t="t" r="r" b="b"/>
              <a:pathLst>
                <a:path w="4069079" h="3749040">
                  <a:moveTo>
                    <a:pt x="4069079" y="3749039"/>
                  </a:moveTo>
                  <a:lnTo>
                    <a:pt x="0" y="3749039"/>
                  </a:lnTo>
                  <a:lnTo>
                    <a:pt x="0" y="0"/>
                  </a:lnTo>
                  <a:lnTo>
                    <a:pt x="4069079" y="0"/>
                  </a:lnTo>
                  <a:lnTo>
                    <a:pt x="4069079" y="37490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207007"/>
              <a:ext cx="384047" cy="38404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0040" y="1078991"/>
            <a:ext cx="4069079" cy="374904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</a:pPr>
            <a:r>
              <a:rPr sz="1100" b="1" dirty="0">
                <a:solidFill>
                  <a:srgbClr val="00D4AA"/>
                </a:solidFill>
                <a:latin typeface="Calibri"/>
                <a:cs typeface="Calibri"/>
              </a:rPr>
              <a:t>KEY</a:t>
            </a:r>
            <a:r>
              <a:rPr sz="1100" b="1" spc="-35" dirty="0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D4AA"/>
                </a:solidFill>
                <a:latin typeface="Calibri"/>
                <a:cs typeface="Calibri"/>
              </a:rPr>
              <a:t>FINDINGS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10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spcBef>
                <a:spcPts val="5"/>
              </a:spcBef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SBI</a:t>
            </a:r>
            <a:r>
              <a:rPr sz="95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Mutual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is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the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market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leader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AUM</a:t>
            </a:r>
            <a:r>
              <a:rPr sz="95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dominance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at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Microsoft Sans Serif"/>
                <a:cs typeface="Microsoft Sans Serif"/>
              </a:rPr>
              <a:t>₹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12.5L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Cr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264160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HDFC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Mid-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Cap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Opportunities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tops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on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Final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Score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(89.70/100)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with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highest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Sharpe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(0.81)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Alpha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(7.85%)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599440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Liquid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funds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drive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49%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of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net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inflows,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signalling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conservative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 appetite</a:t>
            </a:r>
            <a:r>
              <a:rPr sz="95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post-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2024</a:t>
            </a:r>
            <a:r>
              <a:rPr sz="95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correction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469265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26–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35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age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cohort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is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largest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(41.1%)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but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skews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toward</a:t>
            </a:r>
            <a:r>
              <a:rPr sz="950" spc="-1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growth opportunity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for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lumpsum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 advisories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0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541655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spc="-30" dirty="0">
                <a:solidFill>
                  <a:srgbClr val="E1E7F0"/>
                </a:solidFill>
                <a:latin typeface="Calibri"/>
                <a:cs typeface="Calibri"/>
              </a:rPr>
              <a:t>Top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10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funds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by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HHI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score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&gt;2300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concentrated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sector</a:t>
            </a:r>
            <a:r>
              <a:rPr sz="950" spc="-2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exposure requires</a:t>
            </a:r>
            <a:r>
              <a:rPr sz="950" spc="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portfolio</a:t>
            </a:r>
            <a:r>
              <a:rPr sz="950" spc="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rebalancing</a:t>
            </a:r>
            <a:r>
              <a:rPr sz="950" spc="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alerts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676910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May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2025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 SIP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all-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time high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(</a:t>
            </a:r>
            <a:r>
              <a:rPr sz="950" spc="-10" dirty="0">
                <a:solidFill>
                  <a:srgbClr val="E1E7F0"/>
                </a:solidFill>
                <a:latin typeface="Microsoft Sans Serif"/>
                <a:cs typeface="Microsoft Sans Serif"/>
              </a:rPr>
              <a:t>₹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13.97M)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indicates</a:t>
            </a:r>
            <a:r>
              <a:rPr sz="950" spc="-5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sustained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retail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participation</a:t>
            </a:r>
            <a:r>
              <a:rPr sz="95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1E7F0"/>
                </a:solidFill>
                <a:latin typeface="Calibri"/>
                <a:cs typeface="Calibri"/>
              </a:rPr>
              <a:t>despite</a:t>
            </a:r>
            <a:r>
              <a:rPr sz="95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market</a:t>
            </a:r>
            <a:r>
              <a:rPr sz="950" spc="-30" dirty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1E7F0"/>
                </a:solidFill>
                <a:latin typeface="Calibri"/>
                <a:cs typeface="Calibri"/>
              </a:rPr>
              <a:t>volatility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29738" y="999569"/>
            <a:ext cx="4327525" cy="3961765"/>
            <a:chOff x="4629738" y="999569"/>
            <a:chExt cx="4327525" cy="396176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9738" y="999569"/>
              <a:ext cx="4327525" cy="39617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09159" y="1078991"/>
              <a:ext cx="4114800" cy="3749040"/>
            </a:xfrm>
            <a:custGeom>
              <a:avLst/>
              <a:gdLst/>
              <a:ahLst/>
              <a:cxnLst/>
              <a:rect l="l" t="t" r="r" b="b"/>
              <a:pathLst>
                <a:path w="4114800" h="3749040">
                  <a:moveTo>
                    <a:pt x="4114799" y="3749039"/>
                  </a:moveTo>
                  <a:lnTo>
                    <a:pt x="0" y="3749039"/>
                  </a:lnTo>
                  <a:lnTo>
                    <a:pt x="0" y="0"/>
                  </a:lnTo>
                  <a:lnTo>
                    <a:pt x="4114799" y="0"/>
                  </a:lnTo>
                  <a:lnTo>
                    <a:pt x="4114799" y="37490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37760" y="1207008"/>
              <a:ext cx="384047" cy="38404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709159" y="1078991"/>
            <a:ext cx="4114800" cy="374904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</a:pPr>
            <a:r>
              <a:rPr sz="1100" b="1" spc="-10" dirty="0">
                <a:solidFill>
                  <a:srgbClr val="F49E0B"/>
                </a:solidFill>
                <a:latin typeface="Calibri"/>
                <a:cs typeface="Calibri"/>
              </a:rPr>
              <a:t>RECOMMENDATIONS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1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b="1" dirty="0">
                <a:solidFill>
                  <a:srgbClr val="F49E0B"/>
                </a:solidFill>
                <a:latin typeface="Calibri"/>
                <a:cs typeface="Calibri"/>
              </a:rPr>
              <a:t>Deploy</a:t>
            </a:r>
            <a:r>
              <a:rPr sz="1000" b="1" spc="-30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Robo-Advisor</a:t>
            </a:r>
            <a:endParaRPr sz="1000">
              <a:latin typeface="Calibri"/>
              <a:cs typeface="Calibri"/>
            </a:endParaRPr>
          </a:p>
          <a:p>
            <a:pPr marL="182880" marR="410209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Map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investor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risk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appetite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Final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Score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bands.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Automatically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suggest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top-</a:t>
            </a:r>
            <a:r>
              <a:rPr sz="900" spc="-50" dirty="0">
                <a:solidFill>
                  <a:srgbClr val="CBD4E1"/>
                </a:solidFill>
                <a:latin typeface="Calibri"/>
                <a:cs typeface="Calibri"/>
              </a:rPr>
              <a:t>3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funds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by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category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and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age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group.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Automated</a:t>
            </a:r>
            <a:r>
              <a:rPr sz="1000" b="1" spc="-5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49E0B"/>
                </a:solidFill>
                <a:latin typeface="Calibri"/>
                <a:cs typeface="Calibri"/>
              </a:rPr>
              <a:t>Churn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Alerts</a:t>
            </a:r>
            <a:endParaRPr sz="1000">
              <a:latin typeface="Calibri"/>
              <a:cs typeface="Calibri"/>
            </a:endParaRPr>
          </a:p>
          <a:p>
            <a:pPr marL="182880" marR="247015">
              <a:lnSpc>
                <a:spcPct val="100000"/>
              </a:lnSpc>
              <a:spcBef>
                <a:spcPts val="700"/>
              </a:spcBef>
            </a:pP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Trigger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CRM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alerts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at-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risk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investors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(SIP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gap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Microsoft Sans Serif"/>
                <a:cs typeface="Microsoft Sans Serif"/>
              </a:rPr>
              <a:t>≥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2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months)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before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AUM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exits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target</a:t>
            </a:r>
            <a:r>
              <a:rPr sz="900" spc="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high-value</a:t>
            </a:r>
            <a:r>
              <a:rPr sz="900" spc="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36–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45</a:t>
            </a:r>
            <a:r>
              <a:rPr sz="900" spc="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cohort.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b="1" dirty="0">
                <a:solidFill>
                  <a:srgbClr val="F49E0B"/>
                </a:solidFill>
                <a:latin typeface="Calibri"/>
                <a:cs typeface="Calibri"/>
              </a:rPr>
              <a:t>HHI</a:t>
            </a:r>
            <a:r>
              <a:rPr sz="1000" b="1" spc="20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Rebalancing</a:t>
            </a:r>
            <a:r>
              <a:rPr sz="1000" b="1" spc="25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Alerts</a:t>
            </a:r>
            <a:endParaRPr sz="1000">
              <a:latin typeface="Calibri"/>
              <a:cs typeface="Calibri"/>
            </a:endParaRPr>
          </a:p>
          <a:p>
            <a:pPr marL="182880" marR="748030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Flag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portfolios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&gt;2500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HHI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to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managers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proactive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sector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diversification recommendations.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000" b="1" dirty="0">
                <a:solidFill>
                  <a:srgbClr val="F49E0B"/>
                </a:solidFill>
                <a:latin typeface="Calibri"/>
                <a:cs typeface="Calibri"/>
              </a:rPr>
              <a:t>Female</a:t>
            </a:r>
            <a:r>
              <a:rPr sz="1000" b="1" spc="-25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Investor</a:t>
            </a:r>
            <a:r>
              <a:rPr sz="1000" b="1" spc="-20" dirty="0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E0B"/>
                </a:solidFill>
                <a:latin typeface="Calibri"/>
                <a:cs typeface="Calibri"/>
              </a:rPr>
              <a:t>Growth</a:t>
            </a:r>
            <a:endParaRPr sz="1000">
              <a:latin typeface="Calibri"/>
              <a:cs typeface="Calibri"/>
            </a:endParaRPr>
          </a:p>
          <a:p>
            <a:pPr marL="182880" marR="207010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33.5%</a:t>
            </a:r>
            <a:r>
              <a:rPr sz="900" spc="-2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female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base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with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rising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lumpsum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tickets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targeted</a:t>
            </a:r>
            <a:r>
              <a:rPr sz="900" spc="-15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education campaigns</a:t>
            </a:r>
            <a:r>
              <a:rPr sz="900" spc="500" dirty="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can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increase </a:t>
            </a:r>
            <a:r>
              <a:rPr sz="900" dirty="0">
                <a:solidFill>
                  <a:srgbClr val="CBD4E1"/>
                </a:solidFill>
                <a:latin typeface="Calibri"/>
                <a:cs typeface="Calibri"/>
              </a:rPr>
              <a:t>AUM</a:t>
            </a:r>
            <a:r>
              <a:rPr sz="900" spc="-10" dirty="0">
                <a:solidFill>
                  <a:srgbClr val="CBD4E1"/>
                </a:solidFill>
                <a:latin typeface="Calibri"/>
                <a:cs typeface="Calibri"/>
              </a:rPr>
              <a:t> 15–</a:t>
            </a:r>
            <a:r>
              <a:rPr sz="900" spc="-20" dirty="0">
                <a:solidFill>
                  <a:srgbClr val="CBD4E1"/>
                </a:solidFill>
                <a:latin typeface="Calibri"/>
                <a:cs typeface="Calibri"/>
              </a:rPr>
              <a:t>20%.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737" y="3424237"/>
            <a:ext cx="8577580" cy="1719580"/>
            <a:chOff x="566737" y="3424237"/>
            <a:chExt cx="8577580" cy="1719580"/>
          </a:xfrm>
        </p:grpSpPr>
        <p:sp>
          <p:nvSpPr>
            <p:cNvPr id="3" name="object 3"/>
            <p:cNvSpPr/>
            <p:nvPr/>
          </p:nvSpPr>
          <p:spPr>
            <a:xfrm>
              <a:off x="8001000" y="4000499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1002" y="1094683"/>
                  </a:lnTo>
                  <a:lnTo>
                    <a:pt x="3984" y="1046878"/>
                  </a:lnTo>
                  <a:lnTo>
                    <a:pt x="8905" y="999624"/>
                  </a:lnTo>
                  <a:lnTo>
                    <a:pt x="15726" y="952960"/>
                  </a:lnTo>
                  <a:lnTo>
                    <a:pt x="24407" y="906927"/>
                  </a:lnTo>
                  <a:lnTo>
                    <a:pt x="34908" y="861563"/>
                  </a:lnTo>
                  <a:lnTo>
                    <a:pt x="47190" y="816909"/>
                  </a:lnTo>
                  <a:lnTo>
                    <a:pt x="61212" y="773004"/>
                  </a:lnTo>
                  <a:lnTo>
                    <a:pt x="76936" y="729888"/>
                  </a:lnTo>
                  <a:lnTo>
                    <a:pt x="94322" y="687600"/>
                  </a:lnTo>
                  <a:lnTo>
                    <a:pt x="113330" y="646181"/>
                  </a:lnTo>
                  <a:lnTo>
                    <a:pt x="133920" y="605670"/>
                  </a:lnTo>
                  <a:lnTo>
                    <a:pt x="156052" y="566106"/>
                  </a:lnTo>
                  <a:lnTo>
                    <a:pt x="179688" y="527529"/>
                  </a:lnTo>
                  <a:lnTo>
                    <a:pt x="204787" y="489979"/>
                  </a:lnTo>
                  <a:lnTo>
                    <a:pt x="231309" y="453496"/>
                  </a:lnTo>
                  <a:lnTo>
                    <a:pt x="259216" y="418119"/>
                  </a:lnTo>
                  <a:lnTo>
                    <a:pt x="288467" y="383888"/>
                  </a:lnTo>
                  <a:lnTo>
                    <a:pt x="319022" y="350842"/>
                  </a:lnTo>
                  <a:lnTo>
                    <a:pt x="350842" y="319022"/>
                  </a:lnTo>
                  <a:lnTo>
                    <a:pt x="383888" y="288467"/>
                  </a:lnTo>
                  <a:lnTo>
                    <a:pt x="418119" y="259216"/>
                  </a:lnTo>
                  <a:lnTo>
                    <a:pt x="453496" y="231310"/>
                  </a:lnTo>
                  <a:lnTo>
                    <a:pt x="489979" y="204787"/>
                  </a:lnTo>
                  <a:lnTo>
                    <a:pt x="527529" y="179688"/>
                  </a:lnTo>
                  <a:lnTo>
                    <a:pt x="566105" y="156053"/>
                  </a:lnTo>
                  <a:lnTo>
                    <a:pt x="605669" y="133920"/>
                  </a:lnTo>
                  <a:lnTo>
                    <a:pt x="646181" y="113330"/>
                  </a:lnTo>
                  <a:lnTo>
                    <a:pt x="687600" y="94322"/>
                  </a:lnTo>
                  <a:lnTo>
                    <a:pt x="729888" y="76936"/>
                  </a:lnTo>
                  <a:lnTo>
                    <a:pt x="773004" y="61212"/>
                  </a:lnTo>
                  <a:lnTo>
                    <a:pt x="816909" y="47190"/>
                  </a:lnTo>
                  <a:lnTo>
                    <a:pt x="861563" y="34908"/>
                  </a:lnTo>
                  <a:lnTo>
                    <a:pt x="906927" y="24407"/>
                  </a:lnTo>
                  <a:lnTo>
                    <a:pt x="952960" y="15726"/>
                  </a:lnTo>
                  <a:lnTo>
                    <a:pt x="999624" y="8905"/>
                  </a:lnTo>
                  <a:lnTo>
                    <a:pt x="1046878" y="3984"/>
                  </a:lnTo>
                  <a:lnTo>
                    <a:pt x="1094683" y="1002"/>
                  </a:lnTo>
                  <a:lnTo>
                    <a:pt x="114300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00A8FF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1500" y="3429000"/>
              <a:ext cx="8001000" cy="1333500"/>
            </a:xfrm>
            <a:custGeom>
              <a:avLst/>
              <a:gdLst/>
              <a:ahLst/>
              <a:cxnLst/>
              <a:rect l="l" t="t" r="r" b="b"/>
              <a:pathLst>
                <a:path w="8001000" h="1333500">
                  <a:moveTo>
                    <a:pt x="7924803" y="1333499"/>
                  </a:moveTo>
                  <a:lnTo>
                    <a:pt x="76196" y="1333499"/>
                  </a:lnTo>
                  <a:lnTo>
                    <a:pt x="46537" y="1327512"/>
                  </a:lnTo>
                  <a:lnTo>
                    <a:pt x="22317" y="1311182"/>
                  </a:lnTo>
                  <a:lnTo>
                    <a:pt x="5987" y="1286962"/>
                  </a:lnTo>
                  <a:lnTo>
                    <a:pt x="0" y="1257303"/>
                  </a:lnTo>
                  <a:lnTo>
                    <a:pt x="0" y="76195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7924803" y="0"/>
                  </a:lnTo>
                  <a:lnTo>
                    <a:pt x="7967077" y="12801"/>
                  </a:lnTo>
                  <a:lnTo>
                    <a:pt x="7995199" y="47037"/>
                  </a:lnTo>
                  <a:lnTo>
                    <a:pt x="8000999" y="76195"/>
                  </a:lnTo>
                  <a:lnTo>
                    <a:pt x="8000999" y="1257303"/>
                  </a:lnTo>
                  <a:lnTo>
                    <a:pt x="7995012" y="1286962"/>
                  </a:lnTo>
                  <a:lnTo>
                    <a:pt x="7978682" y="1311182"/>
                  </a:lnTo>
                  <a:lnTo>
                    <a:pt x="7954462" y="1327512"/>
                  </a:lnTo>
                  <a:lnTo>
                    <a:pt x="7924803" y="1333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500" y="3429000"/>
              <a:ext cx="8001000" cy="1333500"/>
            </a:xfrm>
            <a:custGeom>
              <a:avLst/>
              <a:gdLst/>
              <a:ahLst/>
              <a:cxnLst/>
              <a:rect l="l" t="t" r="r" b="b"/>
              <a:pathLst>
                <a:path w="8001000" h="1333500">
                  <a:moveTo>
                    <a:pt x="0" y="76195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7924803" y="0"/>
                  </a:lnTo>
                  <a:lnTo>
                    <a:pt x="7967077" y="12801"/>
                  </a:lnTo>
                  <a:lnTo>
                    <a:pt x="7995199" y="47037"/>
                  </a:lnTo>
                  <a:lnTo>
                    <a:pt x="8000999" y="76195"/>
                  </a:lnTo>
                  <a:lnTo>
                    <a:pt x="8000999" y="1257303"/>
                  </a:lnTo>
                  <a:lnTo>
                    <a:pt x="7995012" y="1286962"/>
                  </a:lnTo>
                  <a:lnTo>
                    <a:pt x="7978682" y="1311182"/>
                  </a:lnTo>
                  <a:lnTo>
                    <a:pt x="7954462" y="1327512"/>
                  </a:lnTo>
                  <a:lnTo>
                    <a:pt x="7924803" y="1333499"/>
                  </a:lnTo>
                  <a:lnTo>
                    <a:pt x="76196" y="1333499"/>
                  </a:lnTo>
                  <a:lnTo>
                    <a:pt x="46537" y="1327512"/>
                  </a:lnTo>
                  <a:lnTo>
                    <a:pt x="22317" y="1311182"/>
                  </a:lnTo>
                  <a:lnTo>
                    <a:pt x="5987" y="1286962"/>
                  </a:lnTo>
                  <a:lnTo>
                    <a:pt x="0" y="1257303"/>
                  </a:lnTo>
                  <a:lnTo>
                    <a:pt x="0" y="7619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731824" y="447345"/>
            <a:ext cx="13284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D4AA"/>
                </a:solidFill>
                <a:latin typeface="Tahoma"/>
                <a:cs typeface="Tahoma"/>
              </a:rPr>
              <a:t>PROJECT </a:t>
            </a:r>
            <a:r>
              <a:rPr sz="1000" b="1" spc="-10" dirty="0">
                <a:solidFill>
                  <a:srgbClr val="00D4AA"/>
                </a:solidFill>
                <a:latin typeface="Tahoma"/>
                <a:cs typeface="Tahoma"/>
              </a:rPr>
              <a:t>SUMMARY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347250" y="746651"/>
            <a:ext cx="431228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Cambria"/>
                <a:cs typeface="Cambria"/>
              </a:rPr>
              <a:t>Bluestock</a:t>
            </a:r>
            <a:r>
              <a:rPr sz="3200" spc="-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FFFFFF"/>
                </a:solidFill>
                <a:latin typeface="Cambria"/>
                <a:cs typeface="Cambria"/>
              </a:rPr>
              <a:t>Mutual</a:t>
            </a:r>
            <a:r>
              <a:rPr sz="3200" spc="-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mbria"/>
                <a:cs typeface="Cambria"/>
              </a:rPr>
              <a:t>Fund Analytics</a:t>
            </a:r>
            <a:r>
              <a:rPr sz="3200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mbria"/>
                <a:cs typeface="Cambria"/>
              </a:rPr>
              <a:t>Platform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6737" y="1900237"/>
            <a:ext cx="8010525" cy="1152525"/>
            <a:chOff x="566737" y="1900237"/>
            <a:chExt cx="8010525" cy="1152525"/>
          </a:xfrm>
        </p:grpSpPr>
        <p:sp>
          <p:nvSpPr>
            <p:cNvPr id="9" name="object 9"/>
            <p:cNvSpPr/>
            <p:nvPr/>
          </p:nvSpPr>
          <p:spPr>
            <a:xfrm>
              <a:off x="571500" y="1905000"/>
              <a:ext cx="8001000" cy="1143000"/>
            </a:xfrm>
            <a:custGeom>
              <a:avLst/>
              <a:gdLst/>
              <a:ahLst/>
              <a:cxnLst/>
              <a:rect l="l" t="t" r="r" b="b"/>
              <a:pathLst>
                <a:path w="8001000" h="1143000">
                  <a:moveTo>
                    <a:pt x="7924807" y="1142999"/>
                  </a:moveTo>
                  <a:lnTo>
                    <a:pt x="76192" y="1142999"/>
                  </a:lnTo>
                  <a:lnTo>
                    <a:pt x="46534" y="1137012"/>
                  </a:lnTo>
                  <a:lnTo>
                    <a:pt x="22316" y="1120683"/>
                  </a:lnTo>
                  <a:lnTo>
                    <a:pt x="5987" y="1096465"/>
                  </a:lnTo>
                  <a:lnTo>
                    <a:pt x="0" y="1066807"/>
                  </a:lnTo>
                  <a:lnTo>
                    <a:pt x="0" y="76192"/>
                  </a:lnTo>
                  <a:lnTo>
                    <a:pt x="5987" y="46534"/>
                  </a:lnTo>
                  <a:lnTo>
                    <a:pt x="22316" y="22316"/>
                  </a:lnTo>
                  <a:lnTo>
                    <a:pt x="46534" y="5987"/>
                  </a:lnTo>
                  <a:lnTo>
                    <a:pt x="76192" y="0"/>
                  </a:lnTo>
                  <a:lnTo>
                    <a:pt x="7924807" y="0"/>
                  </a:lnTo>
                  <a:lnTo>
                    <a:pt x="7967079" y="12801"/>
                  </a:lnTo>
                  <a:lnTo>
                    <a:pt x="7995200" y="47034"/>
                  </a:lnTo>
                  <a:lnTo>
                    <a:pt x="8000999" y="76192"/>
                  </a:lnTo>
                  <a:lnTo>
                    <a:pt x="8000999" y="1066807"/>
                  </a:lnTo>
                  <a:lnTo>
                    <a:pt x="7995012" y="1096465"/>
                  </a:lnTo>
                  <a:lnTo>
                    <a:pt x="7978683" y="1120683"/>
                  </a:lnTo>
                  <a:lnTo>
                    <a:pt x="7954465" y="1137012"/>
                  </a:lnTo>
                  <a:lnTo>
                    <a:pt x="7924807" y="11429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500" y="1905000"/>
              <a:ext cx="8001000" cy="1143000"/>
            </a:xfrm>
            <a:custGeom>
              <a:avLst/>
              <a:gdLst/>
              <a:ahLst/>
              <a:cxnLst/>
              <a:rect l="l" t="t" r="r" b="b"/>
              <a:pathLst>
                <a:path w="8001000" h="1143000">
                  <a:moveTo>
                    <a:pt x="0" y="76192"/>
                  </a:moveTo>
                  <a:lnTo>
                    <a:pt x="5987" y="46534"/>
                  </a:lnTo>
                  <a:lnTo>
                    <a:pt x="22316" y="22316"/>
                  </a:lnTo>
                  <a:lnTo>
                    <a:pt x="46534" y="5987"/>
                  </a:lnTo>
                  <a:lnTo>
                    <a:pt x="76192" y="0"/>
                  </a:lnTo>
                  <a:lnTo>
                    <a:pt x="7924807" y="0"/>
                  </a:lnTo>
                  <a:lnTo>
                    <a:pt x="7967079" y="12801"/>
                  </a:lnTo>
                  <a:lnTo>
                    <a:pt x="7995200" y="47034"/>
                  </a:lnTo>
                  <a:lnTo>
                    <a:pt x="8000999" y="76192"/>
                  </a:lnTo>
                  <a:lnTo>
                    <a:pt x="8000999" y="1066807"/>
                  </a:lnTo>
                  <a:lnTo>
                    <a:pt x="7995012" y="1096465"/>
                  </a:lnTo>
                  <a:lnTo>
                    <a:pt x="7978683" y="1120683"/>
                  </a:lnTo>
                  <a:lnTo>
                    <a:pt x="7954465" y="1137012"/>
                  </a:lnTo>
                  <a:lnTo>
                    <a:pt x="7924807" y="1142999"/>
                  </a:lnTo>
                  <a:lnTo>
                    <a:pt x="76192" y="1142999"/>
                  </a:lnTo>
                  <a:lnTo>
                    <a:pt x="46534" y="1137012"/>
                  </a:lnTo>
                  <a:lnTo>
                    <a:pt x="22316" y="1120683"/>
                  </a:lnTo>
                  <a:lnTo>
                    <a:pt x="5987" y="1096465"/>
                  </a:lnTo>
                  <a:lnTo>
                    <a:pt x="0" y="1066807"/>
                  </a:lnTo>
                  <a:lnTo>
                    <a:pt x="0" y="76192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49300" y="2030602"/>
            <a:ext cx="12712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94A3B8"/>
                </a:solidFill>
                <a:latin typeface="Tahoma"/>
                <a:cs typeface="Tahoma"/>
              </a:rPr>
              <a:t>CORE</a:t>
            </a:r>
            <a:r>
              <a:rPr sz="900" b="1" spc="-30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900" b="1" spc="-10" dirty="0">
                <a:solidFill>
                  <a:srgbClr val="94A3B8"/>
                </a:solidFill>
                <a:latin typeface="Tahoma"/>
                <a:cs typeface="Tahoma"/>
              </a:rPr>
              <a:t>TECHNOLOGIES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2000" y="2333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32315" y="2390723"/>
            <a:ext cx="621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D4AA"/>
                </a:solidFill>
                <a:latin typeface="Tahoma"/>
                <a:cs typeface="Tahoma"/>
              </a:rPr>
              <a:t>Python</a:t>
            </a:r>
            <a:r>
              <a:rPr sz="900" spc="195" dirty="0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sz="900" spc="-60" dirty="0">
                <a:solidFill>
                  <a:srgbClr val="00D4AA"/>
                </a:solidFill>
                <a:latin typeface="Tahoma"/>
                <a:cs typeface="Tahoma"/>
              </a:rPr>
              <a:t>3.11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67000" y="2333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36742" y="2390723"/>
            <a:ext cx="42227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900" spc="-10" dirty="0">
                <a:solidFill>
                  <a:srgbClr val="00D4AA"/>
                </a:solidFill>
                <a:latin typeface="Tahoma"/>
                <a:cs typeface="Tahoma"/>
              </a:rPr>
              <a:t>P</a:t>
            </a:r>
            <a:r>
              <a:rPr sz="900" spc="-10" dirty="0">
                <a:solidFill>
                  <a:srgbClr val="00D4AA"/>
                </a:solidFill>
                <a:latin typeface="Tahoma"/>
                <a:cs typeface="Tahoma"/>
              </a:rPr>
              <a:t>andas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2000" y="2333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093342" y="2390723"/>
            <a:ext cx="718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D4AA"/>
                </a:solidFill>
                <a:latin typeface="Tahoma"/>
                <a:cs typeface="Tahoma"/>
              </a:rPr>
              <a:t>SQLAlchemy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77000" y="2333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59" h="286385">
                <a:moveTo>
                  <a:pt x="1724081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1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1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72740" y="2390723"/>
            <a:ext cx="970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0" dirty="0">
                <a:solidFill>
                  <a:srgbClr val="00D4AA"/>
                </a:solidFill>
                <a:latin typeface="Tahoma"/>
                <a:cs typeface="Tahoma"/>
              </a:rPr>
              <a:t>SQL</a:t>
            </a:r>
            <a:r>
              <a:rPr sz="900" spc="20" dirty="0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00D4AA"/>
                </a:solidFill>
                <a:latin typeface="Tahoma"/>
                <a:cs typeface="Tahoma"/>
              </a:rPr>
              <a:t>Star</a:t>
            </a:r>
            <a:r>
              <a:rPr sz="900" spc="25" dirty="0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00D4AA"/>
                </a:solidFill>
                <a:latin typeface="Tahoma"/>
                <a:cs typeface="Tahoma"/>
              </a:rPr>
              <a:t>Schema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2000" y="2714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91586" y="2771723"/>
            <a:ext cx="502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D4AA"/>
                </a:solidFill>
                <a:latin typeface="Tahoma"/>
                <a:cs typeface="Tahoma"/>
              </a:rPr>
              <a:t>Power</a:t>
            </a:r>
            <a:r>
              <a:rPr sz="900" spc="160" dirty="0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00D4AA"/>
                </a:solidFill>
                <a:latin typeface="Tahoma"/>
                <a:cs typeface="Tahoma"/>
              </a:rPr>
              <a:t>BI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67000" y="2714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68514" y="2771723"/>
            <a:ext cx="559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D4AA"/>
                </a:solidFill>
                <a:latin typeface="Tahoma"/>
                <a:cs typeface="Tahoma"/>
              </a:rPr>
              <a:t>Matplotlib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72000" y="2714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64599" y="2771723"/>
            <a:ext cx="776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D4AA"/>
                </a:solidFill>
                <a:latin typeface="Tahoma"/>
                <a:cs typeface="Tahoma"/>
              </a:rPr>
              <a:t>mfapi.in</a:t>
            </a:r>
            <a:r>
              <a:rPr sz="900" spc="135" dirty="0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00D4AA"/>
                </a:solidFill>
                <a:latin typeface="Tahoma"/>
                <a:cs typeface="Tahoma"/>
              </a:rPr>
              <a:t>REST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477000" y="2714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59" h="286385">
                <a:moveTo>
                  <a:pt x="1724081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1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1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70223" y="2771723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0D4AA"/>
                </a:solidFill>
                <a:latin typeface="Tahoma"/>
                <a:cs typeface="Tahoma"/>
              </a:rPr>
              <a:t>Git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4550" y="3504198"/>
            <a:ext cx="2487930" cy="71882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lang="en-US" sz="2000" b="1" dirty="0">
                <a:solidFill>
                  <a:srgbClr val="FFFFFF"/>
                </a:solidFill>
                <a:latin typeface="Cambria"/>
                <a:cs typeface="Cambria"/>
              </a:rPr>
              <a:t>Sanchit Bhoir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solidFill>
                  <a:srgbClr val="94A3B8"/>
                </a:solidFill>
                <a:latin typeface="Tahoma"/>
                <a:cs typeface="Tahoma"/>
              </a:rPr>
              <a:t>Data</a:t>
            </a:r>
            <a:r>
              <a:rPr sz="1100" spc="9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94A3B8"/>
                </a:solidFill>
                <a:latin typeface="Tahoma"/>
                <a:cs typeface="Tahoma"/>
              </a:rPr>
              <a:t>Analyst</a:t>
            </a:r>
            <a:r>
              <a:rPr sz="1100" spc="100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100" spc="-80" dirty="0">
                <a:solidFill>
                  <a:srgbClr val="94A3B8"/>
                </a:solidFill>
                <a:latin typeface="Tahoma"/>
                <a:cs typeface="Tahoma"/>
              </a:rPr>
              <a:t>·</a:t>
            </a:r>
            <a:r>
              <a:rPr sz="1100" spc="10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4A3B8"/>
                </a:solidFill>
                <a:latin typeface="Tahoma"/>
                <a:cs typeface="Tahoma"/>
              </a:rPr>
              <a:t>BlueStock</a:t>
            </a:r>
            <a:r>
              <a:rPr sz="1100" spc="9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Tahoma"/>
                <a:cs typeface="Tahoma"/>
              </a:rPr>
              <a:t>Fintech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52987" y="3619500"/>
            <a:ext cx="720725" cy="952500"/>
            <a:chOff x="4852987" y="3619500"/>
            <a:chExt cx="720725" cy="95250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5167" y="3681095"/>
              <a:ext cx="107950" cy="889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5557" y="4360545"/>
              <a:ext cx="107950" cy="635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857750" y="3619500"/>
              <a:ext cx="0" cy="952500"/>
            </a:xfrm>
            <a:custGeom>
              <a:avLst/>
              <a:gdLst/>
              <a:ahLst/>
              <a:cxnLst/>
              <a:rect l="l" t="t" r="r" b="b"/>
              <a:pathLst>
                <a:path h="952500">
                  <a:moveTo>
                    <a:pt x="0" y="0"/>
                  </a:moveTo>
                  <a:lnTo>
                    <a:pt x="0" y="952499"/>
                  </a:lnTo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624199" y="3649345"/>
            <a:ext cx="252666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>
                <a:solidFill>
                  <a:srgbClr val="E1E7F0"/>
                </a:solidFill>
                <a:latin typeface="Tahoma"/>
                <a:cs typeface="Tahoma"/>
              </a:rPr>
              <a:t>sanchitbhoir609@gmail.com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32167" y="3982720"/>
            <a:ext cx="256413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A8FF"/>
                </a:solidFill>
                <a:latin typeface="Segoe UI Symbol"/>
                <a:cs typeface="Segoe UI Symbol"/>
              </a:rPr>
              <a:t></a:t>
            </a:r>
            <a:r>
              <a:rPr sz="1000" spc="325" dirty="0">
                <a:solidFill>
                  <a:srgbClr val="00A8FF"/>
                </a:solidFill>
                <a:latin typeface="Segoe UI Symbol"/>
                <a:cs typeface="Segoe UI Symbol"/>
              </a:rPr>
              <a:t>  </a:t>
            </a:r>
            <a:r>
              <a:rPr lang="en-IN" sz="1000" dirty="0">
                <a:solidFill>
                  <a:srgbClr val="E1E7F0"/>
                </a:solidFill>
                <a:latin typeface="Tahoma"/>
                <a:cs typeface="Tahoma"/>
              </a:rPr>
              <a:t>linkedin.com/in/</a:t>
            </a:r>
            <a:r>
              <a:rPr lang="en-IN" sz="1000" dirty="0" err="1">
                <a:solidFill>
                  <a:srgbClr val="E1E7F0"/>
                </a:solidFill>
                <a:latin typeface="Tahoma"/>
                <a:cs typeface="Tahoma"/>
              </a:rPr>
              <a:t>sanchitbhoir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44590" y="4316095"/>
            <a:ext cx="199453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E1E7F0"/>
                </a:solidFill>
                <a:latin typeface="Tahoma"/>
                <a:cs typeface="Tahoma"/>
              </a:rPr>
              <a:t>github.com/</a:t>
            </a:r>
            <a:r>
              <a:rPr lang="en-US" sz="1000" dirty="0" err="1">
                <a:solidFill>
                  <a:srgbClr val="E1E7F0"/>
                </a:solidFill>
                <a:latin typeface="Tahoma"/>
                <a:cs typeface="Tahoma"/>
              </a:rPr>
              <a:t>sanchitbhoirr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1E7F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1354</Words>
  <Application>Microsoft Office PowerPoint</Application>
  <PresentationFormat>On-screen Show (16:9)</PresentationFormat>
  <Paragraphs>272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MS PGothic</vt:lpstr>
      <vt:lpstr>Arial</vt:lpstr>
      <vt:lpstr>Calibri</vt:lpstr>
      <vt:lpstr>Cambria</vt:lpstr>
      <vt:lpstr>Microsoft Sans Serif</vt:lpstr>
      <vt:lpstr>Segoe UI Symbol</vt:lpstr>
      <vt:lpstr>Tahoma</vt:lpstr>
      <vt:lpstr>Times New Roman</vt:lpstr>
      <vt:lpstr>Office Theme</vt:lpstr>
      <vt:lpstr>Bluestock Mutual Fund Analytics Platform</vt:lpstr>
      <vt:lpstr>Problem Statement &amp; Objectives</vt:lpstr>
      <vt:lpstr>Data Sourcing &amp; Ingestion</vt:lpstr>
      <vt:lpstr>System Architecture &amp; ETL Pipeline</vt:lpstr>
      <vt:lpstr>EDA Highlights: Industry Trends</vt:lpstr>
      <vt:lpstr>EDA Highlights: Investor Demographics</vt:lpstr>
      <vt:lpstr>Fund Performance Metrics</vt:lpstr>
      <vt:lpstr>Advanced Risk Analytics</vt:lpstr>
      <vt:lpstr>Behavioural Analytics: Cohort &amp; Churn</vt:lpstr>
      <vt:lpstr>Interactive Dashboard Overview 4-page Power BI dashboard — industry KPIs, performance matrix, investor demographics, transaction analytics</vt:lpstr>
      <vt:lpstr>Strategic Findings &amp; Recommendations</vt:lpstr>
      <vt:lpstr>Bluestock Mutual Fund Analytics Platform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Bluestock_MF_Analytics_Presentation</dc:title>
  <cp:lastModifiedBy>sanchit bhoir</cp:lastModifiedBy>
  <cp:revision>1</cp:revision>
  <dcterms:created xsi:type="dcterms:W3CDTF">2026-06-10T10:00:20Z</dcterms:created>
  <dcterms:modified xsi:type="dcterms:W3CDTF">2026-06-26T04:02:04Z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2026-06-10T00:00:00Z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2026-06-10T00:00:00Z</vt:filetime>
  </property>
</Properties>
</file>